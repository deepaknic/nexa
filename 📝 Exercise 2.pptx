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69" r:id="rId5"/>
    <p:sldId id="258" r:id="rId6"/>
    <p:sldId id="270" r:id="rId7"/>
    <p:sldId id="259" r:id="rId8"/>
    <p:sldId id="271" r:id="rId9"/>
    <p:sldId id="260" r:id="rId10"/>
    <p:sldId id="272" r:id="rId11"/>
    <p:sldId id="261" r:id="rId12"/>
    <p:sldId id="262" r:id="rId13"/>
    <p:sldId id="273" r:id="rId14"/>
    <p:sldId id="263" r:id="rId15"/>
    <p:sldId id="264" r:id="rId16"/>
    <p:sldId id="265" r:id="rId17"/>
    <p:sldId id="274" r:id="rId18"/>
    <p:sldId id="266" r:id="rId19"/>
    <p:sldId id="275" r:id="rId20"/>
    <p:sldId id="267" r:id="rId21"/>
    <p:sldId id="276" r:id="rId22"/>
    <p:sldId id="268" r:id="rId23"/>
    <p:sldId id="277" r:id="rId24"/>
    <p:sldId id="280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-7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1FBE2-89D1-4675-AB3F-2C9EA0C8977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CCB49-86A6-4553-BAD2-C7EC96372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07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25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MS Excel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Exercise - 2</a:t>
            </a:r>
            <a:br/>
            <a:r>
              <a:t>Logical, Text Functions, Custom List &amp; Conditional Formatting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74661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400"/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3200"/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29628"/>
            <a:ext cx="1005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sz="3200" dirty="0"/>
              <a:t>Q. Create a table with 10 records and use CONCATENATE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576587"/>
              </p:ext>
            </p:extLst>
          </p:nvPr>
        </p:nvGraphicFramePr>
        <p:xfrm>
          <a:off x="1798320" y="2476500"/>
          <a:ext cx="8305800" cy="37528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65419"/>
                <a:gridCol w="1509364"/>
                <a:gridCol w="1915107"/>
                <a:gridCol w="421591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SN.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Name 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Sir Name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Full Name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Arshul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Hasan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Vipin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Verma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 err="1">
                          <a:effectLst/>
                        </a:rPr>
                        <a:t>Arun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Tiwari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Dilip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Sharma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Pari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Singh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Hari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Kumar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Tarun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Singh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Warish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Ali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Praveen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Singh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74661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400"/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70560" y="1704558"/>
            <a:ext cx="11301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sz="2000" dirty="0"/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104668"/>
            <a:ext cx="63815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sz="2400" dirty="0"/>
              <a:t>Formula:</a:t>
            </a:r>
            <a:br>
              <a:rPr sz="2400" dirty="0"/>
            </a:br>
            <a:r>
              <a:rPr sz="2400" dirty="0"/>
              <a:t>=CONCATENATE(A2," ",B2)</a:t>
            </a:r>
            <a:br>
              <a:rPr sz="2400" dirty="0"/>
            </a:br>
            <a:r>
              <a:rPr sz="2400" dirty="0"/>
              <a:t>→ Joins First Name (A2) and Last Name (B2) with a space</a:t>
            </a:r>
            <a:br>
              <a:rPr sz="2400" dirty="0"/>
            </a:br>
            <a:r>
              <a:rPr sz="2400" dirty="0"/>
              <a:t/>
            </a:r>
            <a:br>
              <a:rPr sz="2400" dirty="0"/>
            </a:br>
            <a:r>
              <a:rPr sz="2400" dirty="0"/>
              <a:t>Or use the &amp; operator:</a:t>
            </a:r>
            <a:br>
              <a:rPr sz="2400" dirty="0"/>
            </a:br>
            <a:r>
              <a:rPr sz="2400" dirty="0"/>
              <a:t>=A2&amp;" "&amp;B2</a:t>
            </a:r>
            <a:br>
              <a:rPr sz="2400" dirty="0"/>
            </a:br>
            <a:endParaRPr sz="2400"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EA9C104-25DE-8C3D-0CB6-0A43C8E17E22}"/>
              </a:ext>
            </a:extLst>
          </p:cNvPr>
          <p:cNvSpPr txBox="1"/>
          <p:nvPr/>
        </p:nvSpPr>
        <p:spPr>
          <a:xfrm>
            <a:off x="6930189" y="1704558"/>
            <a:ext cx="4523874" cy="36317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sz="2400" dirty="0"/>
              <a:t>Example:</a:t>
            </a:r>
            <a:br>
              <a:rPr sz="2400" dirty="0"/>
            </a:br>
            <a:r>
              <a:rPr sz="2400" dirty="0"/>
              <a:t>A2 = Rahul, B2 = Kumar</a:t>
            </a:r>
            <a:br>
              <a:rPr sz="2400" dirty="0"/>
            </a:br>
            <a:r>
              <a:rPr sz="2400" dirty="0"/>
              <a:t>Result: Rahul Kumar</a:t>
            </a:r>
          </a:p>
          <a:p>
            <a:r>
              <a:rPr sz="2000" dirty="0"/>
              <a:t/>
            </a:r>
            <a:br>
              <a:rPr sz="2000" dirty="0"/>
            </a:br>
            <a:r>
              <a:rPr lang="en-US" sz="2000" dirty="0"/>
              <a:t>Tip: CONCATENATE is used to join text from multiple cells into </a:t>
            </a:r>
            <a:r>
              <a:rPr lang="en-US" sz="2000" dirty="0" smtClean="0"/>
              <a:t>one</a:t>
            </a:r>
          </a:p>
          <a:p>
            <a:endParaRPr lang="en-US" sz="2000" dirty="0"/>
          </a:p>
          <a:p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Location: Formulas Tab &gt;&gt; Text &gt;&gt; </a:t>
            </a:r>
            <a:r>
              <a:rPr lang="en-IN" sz="2000" dirty="0" smtClean="0"/>
              <a:t>CONCATENATE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9301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800"/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sz="2800" dirty="0"/>
              <a:t>Q. Using Conditional Formatting, give remarks based on 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691148"/>
              </p:ext>
            </p:extLst>
          </p:nvPr>
        </p:nvGraphicFramePr>
        <p:xfrm>
          <a:off x="3735008" y="2466975"/>
          <a:ext cx="4178177" cy="37528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79783"/>
                <a:gridCol w="1541946"/>
                <a:gridCol w="1956448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SN.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Name 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Marks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Arshul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40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Vipin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Arun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Dilip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Pari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Hari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Tarun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45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Warish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Praveen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68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301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sz="2000"/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4010"/>
            <a:ext cx="11064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sz="2400" dirty="0" smtClean="0"/>
              <a:t>Steps:</a:t>
            </a:r>
            <a:br>
              <a:rPr sz="2400" dirty="0" smtClean="0"/>
            </a:br>
            <a:r>
              <a:rPr sz="2400" dirty="0" smtClean="0"/>
              <a:t>1. Select the data range</a:t>
            </a:r>
            <a:br>
              <a:rPr sz="2400" dirty="0" smtClean="0"/>
            </a:br>
            <a:r>
              <a:rPr sz="2400" dirty="0" smtClean="0"/>
              <a:t>2. Home Tab &gt;&gt; Conditional Formatting &gt;&gt; Highlight Cells Rules</a:t>
            </a:r>
            <a:br>
              <a:rPr sz="2400" dirty="0" smtClean="0"/>
            </a:br>
            <a:r>
              <a:rPr sz="2400" dirty="0" smtClean="0"/>
              <a:t>3. Choose Greater Than / Less Than / Between</a:t>
            </a:r>
            <a:br>
              <a:rPr sz="2400" dirty="0" smtClean="0"/>
            </a:br>
            <a:r>
              <a:rPr sz="2400" dirty="0" smtClean="0"/>
              <a:t>4. Set the value and color</a:t>
            </a:r>
            <a:br>
              <a:rPr sz="2400" dirty="0" smtClean="0"/>
            </a:br>
            <a:r>
              <a:rPr sz="2400" dirty="0" smtClean="0"/>
              <a:t/>
            </a:r>
            <a:br>
              <a:rPr sz="2400" dirty="0" smtClean="0"/>
            </a:br>
            <a:r>
              <a:rPr sz="2400" dirty="0" smtClean="0"/>
              <a:t/>
            </a:r>
            <a:br>
              <a:rPr sz="2400" dirty="0" smtClean="0"/>
            </a:br>
            <a:endParaRPr sz="2400"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1F0A80C-38B0-9B55-1F20-780506162BED}"/>
              </a:ext>
            </a:extLst>
          </p:cNvPr>
          <p:cNvSpPr txBox="1"/>
          <p:nvPr/>
        </p:nvSpPr>
        <p:spPr>
          <a:xfrm>
            <a:off x="4936156" y="4495983"/>
            <a:ext cx="4122821" cy="19048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sz="2400" b="1" dirty="0" smtClean="0"/>
              <a:t>Example :</a:t>
            </a:r>
          </a:p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sz="2400" dirty="0" smtClean="0"/>
              <a:t>&gt;45 </a:t>
            </a:r>
            <a:r>
              <a:rPr lang="en-US" sz="2400" dirty="0"/>
              <a:t>→ </a:t>
            </a:r>
            <a:r>
              <a:rPr lang="en-US" sz="2400" dirty="0" smtClean="0"/>
              <a:t>Green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=33 </a:t>
            </a:r>
            <a:r>
              <a:rPr lang="en-US" sz="2400" dirty="0"/>
              <a:t>→ </a:t>
            </a:r>
            <a:r>
              <a:rPr lang="en-US" sz="2400" dirty="0" smtClean="0"/>
              <a:t>Yellow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&lt;33 </a:t>
            </a:r>
            <a:r>
              <a:rPr lang="en-US" sz="2400" dirty="0"/>
              <a:t>→ </a:t>
            </a:r>
            <a:r>
              <a:rPr lang="en-US" sz="2400" dirty="0" smtClean="0"/>
              <a:t>Red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887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Q. Using IF function, give remarks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/>
            </a:r>
            <a:br>
              <a:rPr dirty="0"/>
            </a:br>
            <a:r>
              <a:rPr dirty="0" smtClean="0"/>
              <a:t/>
            </a:r>
            <a:br>
              <a:rPr dirty="0" smtClean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35029"/>
              </p:ext>
            </p:extLst>
          </p:nvPr>
        </p:nvGraphicFramePr>
        <p:xfrm>
          <a:off x="2682240" y="2411009"/>
          <a:ext cx="5760720" cy="38290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8680"/>
                <a:gridCol w="2758440"/>
                <a:gridCol w="838200"/>
                <a:gridCol w="129540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 err="1">
                          <a:effectLst/>
                        </a:rPr>
                        <a:t>S.No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effectLst/>
                        </a:rPr>
                        <a:t>Student Name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effectLst/>
                        </a:rPr>
                        <a:t>Marks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effectLst/>
                        </a:rPr>
                        <a:t>Result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1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Amit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95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Excellent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2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Neha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88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Good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3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Rahul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76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Good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4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Priya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68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Average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5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Mohit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61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Average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6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Anjali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45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Pass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7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Suman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33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Pass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8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Karan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29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Fail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9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Pooja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91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Excellent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10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Rohan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59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Pass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58440"/>
            <a:ext cx="1106424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/>
              <a:t>Logic:</a:t>
            </a:r>
            <a:br>
              <a:rPr lang="en-US" dirty="0"/>
            </a:br>
            <a:r>
              <a:rPr lang="en-US" dirty="0"/>
              <a:t>• C3 &gt;= 90 → Excellent</a:t>
            </a:r>
            <a:br>
              <a:rPr lang="en-US" dirty="0"/>
            </a:br>
            <a:r>
              <a:rPr lang="en-US" dirty="0"/>
              <a:t>• C3 &gt;= 75 → Good</a:t>
            </a:r>
            <a:br>
              <a:rPr lang="en-US" dirty="0"/>
            </a:br>
            <a:r>
              <a:rPr lang="en-US" dirty="0"/>
              <a:t>• C3 &gt;= 60 → Average</a:t>
            </a:r>
            <a:br>
              <a:rPr lang="en-US" dirty="0"/>
            </a:br>
            <a:r>
              <a:rPr lang="en-US" dirty="0"/>
              <a:t>• C3 &gt;= 33 → Pass</a:t>
            </a:r>
            <a:br>
              <a:rPr lang="en-US" dirty="0"/>
            </a:br>
            <a:r>
              <a:rPr lang="en-US" dirty="0"/>
              <a:t>• C3 &lt; 33 → Fail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Tip: IF function checks a condition and returns one value if TRUE, another if </a:t>
            </a:r>
            <a:r>
              <a:rPr lang="en-US" dirty="0" smtClean="0"/>
              <a:t>FALSE</a:t>
            </a:r>
          </a:p>
          <a:p>
            <a:endParaRPr lang="en-US" dirty="0"/>
          </a:p>
          <a:p>
            <a:r>
              <a:rPr lang="en-US" dirty="0"/>
              <a:t>=IF(C3&gt;=90,"Excellent",IF(C3&gt;=75,"Good",IF(C3&gt;=60,"Average",IF(C3&gt;=33,"Pass","Fail"))))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9066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Using POWER function, create a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75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Formula:</a:t>
            </a:r>
            <a:br>
              <a:rPr dirty="0"/>
            </a:br>
            <a:r>
              <a:rPr dirty="0"/>
              <a:t>=POWER(E8,D8)</a:t>
            </a:r>
            <a:br>
              <a:rPr dirty="0"/>
            </a:br>
            <a:r>
              <a:rPr dirty="0"/>
              <a:t>→ Returns E8 raised to the power of D8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Or use the ^ operator:</a:t>
            </a:r>
            <a:br>
              <a:rPr dirty="0"/>
            </a:br>
            <a:r>
              <a:rPr dirty="0"/>
              <a:t>=E8^D8</a:t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102571"/>
              </p:ext>
            </p:extLst>
          </p:nvPr>
        </p:nvGraphicFramePr>
        <p:xfrm>
          <a:off x="4861560" y="2410011"/>
          <a:ext cx="6080760" cy="37623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7181"/>
                <a:gridCol w="1366019"/>
                <a:gridCol w="1722120"/>
                <a:gridCol w="161544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A </a:t>
                      </a:r>
                      <a:endParaRPr lang="en-IN" sz="2000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IN" sz="2000" u="none" strike="noStrike" dirty="0" smtClean="0">
                          <a:effectLst/>
                        </a:rPr>
                        <a:t>(</a:t>
                      </a:r>
                      <a:r>
                        <a:rPr lang="en-IN" sz="2000" u="none" strike="noStrike" dirty="0">
                          <a:effectLst/>
                        </a:rPr>
                        <a:t>Number)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B 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(Power)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C 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(Formula)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D 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(Result)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=POWER(A2,B2)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=POWER(A3,B3)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=POWER(A4,B4)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=POWER(A5,B5)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125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=POWER(A6,B6)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=POWER(A7,B7)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=POWER(A8,B8)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512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=POWER(A9,B9)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81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=POWER(A10,B10)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1000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 smtClean="0"/>
                        <a:t>=POWER(A11,B11)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144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 smtClean="0"/>
              <a:t>Example</a:t>
            </a:r>
            <a:r>
              <a:rPr dirty="0"/>
              <a:t>:</a:t>
            </a:r>
            <a:br>
              <a:rPr dirty="0"/>
            </a:br>
            <a:r>
              <a:rPr dirty="0"/>
              <a:t>=POWER(2,3) → 8  (2x2x2)</a:t>
            </a:r>
            <a:br>
              <a:rPr dirty="0"/>
            </a:br>
            <a:r>
              <a:rPr dirty="0"/>
              <a:t>=POWER(5,2) → 25  (5x5)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To create a table:</a:t>
            </a:r>
            <a:br>
              <a:rPr dirty="0"/>
            </a:br>
            <a:r>
              <a:rPr dirty="0"/>
              <a:t>Column A = Number, Column B = Power, Column C = =POWER(A2,B2)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Tip: POWER function is used to raise a number to a given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0301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Create a Custom List of 5 cities: Agra, Allahabad, Lucknow, Manipur, Varanasi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t>Steps:</a:t>
            </a:r>
            <a:br/>
            <a:r>
              <a:t>1. File Tab &gt;&gt; Options &gt;&gt; Advanced</a:t>
            </a:r>
            <a:br/>
            <a:r>
              <a:t>2. In the General section, click Edit Custom Lists</a:t>
            </a:r>
            <a:br/>
            <a:r>
              <a:t>3. In the List entries box, type the cities:</a:t>
            </a:r>
            <a:br/>
            <a:r>
              <a:t>   Agra, Allahabad, Lucknow, Manipur, Varanasi</a:t>
            </a:r>
            <a:br/>
            <a:r>
              <a:t>4. Click Add</a:t>
            </a:r>
            <a:br/>
            <a:r>
              <a:t>5. Click OK &gt;&gt; OK</a:t>
            </a:r>
            <a:br/>
            <a:r>
              <a:t/>
            </a:r>
            <a:br/>
            <a:r>
              <a:t>Now type the first city in any cell and drag the fill handle — the full list will auto-fill.</a:t>
            </a:r>
          </a:p>
          <a:p>
            <a:r>
              <a:t/>
            </a:r>
            <a:br/>
            <a:r>
              <a:t>Tip: Custom Lists save time by eliminating repetitive typing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Q. Switch between Sheet-1 and Sheet-2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Method 1:</a:t>
            </a:r>
            <a:br>
              <a:rPr dirty="0"/>
            </a:br>
            <a:r>
              <a:rPr dirty="0"/>
              <a:t>Click on the Sheet tabs at the bottom of the screen (Sheet1, Sheet2, Sheet3)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Method 2:</a:t>
            </a:r>
            <a:br>
              <a:rPr dirty="0"/>
            </a:br>
            <a:r>
              <a:rPr dirty="0"/>
              <a:t>Right-click on the navigation arrows to see a list of all sheets</a:t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 smtClean="0"/>
              <a:t>Shortcuts</a:t>
            </a:r>
            <a:r>
              <a:rPr dirty="0"/>
              <a:t>:</a:t>
            </a:r>
            <a:br>
              <a:rPr dirty="0"/>
            </a:br>
            <a:r>
              <a:rPr dirty="0"/>
              <a:t>• Ctrl + </a:t>
            </a:r>
            <a:r>
              <a:rPr dirty="0" err="1"/>
              <a:t>PageUp</a:t>
            </a:r>
            <a:r>
              <a:rPr dirty="0"/>
              <a:t> → Previous sheet</a:t>
            </a:r>
            <a:br>
              <a:rPr dirty="0"/>
            </a:br>
            <a:r>
              <a:rPr dirty="0"/>
              <a:t>• Ctrl + </a:t>
            </a:r>
            <a:r>
              <a:rPr dirty="0" err="1"/>
              <a:t>PageDown</a:t>
            </a:r>
            <a:r>
              <a:rPr dirty="0"/>
              <a:t> → Next sheet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To add a new sheet:</a:t>
            </a:r>
            <a:br>
              <a:rPr dirty="0"/>
            </a:br>
            <a:r>
              <a:rPr dirty="0"/>
              <a:t>Right-click on a sheet tab &gt;&gt; Insert &gt;&gt; Worksheet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34045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Q. Fill the custom city list by typing the first city and dragging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Steps:</a:t>
            </a:r>
            <a:br>
              <a:rPr dirty="0"/>
            </a:br>
            <a:r>
              <a:rPr dirty="0"/>
              <a:t>1. Type the first city in any cell (e.g., Agra)</a:t>
            </a:r>
            <a:br>
              <a:rPr dirty="0"/>
            </a:br>
            <a:r>
              <a:rPr dirty="0"/>
              <a:t>2. Select the cell</a:t>
            </a:r>
            <a:br>
              <a:rPr dirty="0"/>
            </a:br>
            <a:r>
              <a:rPr dirty="0"/>
              <a:t>3. The fill handle (small square at the bottom-right corner) will appear</a:t>
            </a:r>
            <a:br>
              <a:rPr dirty="0"/>
            </a:br>
            <a:r>
              <a:rPr dirty="0"/>
              <a:t>4. Drag it down or across with your mouse</a:t>
            </a:r>
            <a:br>
              <a:rPr dirty="0"/>
            </a:br>
            <a:r>
              <a:rPr dirty="0"/>
              <a:t>5. Excel 2010 will automatically fill the list using your custom list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Example:</a:t>
            </a:r>
            <a:br>
              <a:rPr dirty="0"/>
            </a:br>
            <a:r>
              <a:rPr dirty="0"/>
              <a:t>Agra → Allahabad → Lucknow → Manipur → Varanasi → Agra → ...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Tip: This will only work after you have created the custom list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Q. Save your file with a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52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Method 1: Keyboard Shortcut</a:t>
            </a:r>
            <a:br>
              <a:rPr dirty="0"/>
            </a:br>
            <a:r>
              <a:rPr dirty="0"/>
              <a:t>Press Ctrl + S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Method 2: Using the Ribbon</a:t>
            </a:r>
            <a:br>
              <a:rPr dirty="0"/>
            </a:br>
            <a:r>
              <a:rPr dirty="0"/>
              <a:t>1. File Tab &gt;&gt; Save As</a:t>
            </a:r>
            <a:br>
              <a:rPr dirty="0"/>
            </a:br>
            <a:r>
              <a:rPr dirty="0"/>
              <a:t>2. Choose a location (Documents, Desktop, etc.)</a:t>
            </a:r>
            <a:br>
              <a:rPr dirty="0"/>
            </a:br>
            <a:r>
              <a:rPr dirty="0"/>
              <a:t>3. Type the file name</a:t>
            </a:r>
            <a:br>
              <a:rPr dirty="0"/>
            </a:br>
            <a:r>
              <a:rPr dirty="0"/>
              <a:t>4. Save as type: Excel Workbook (*.</a:t>
            </a:r>
            <a:r>
              <a:rPr dirty="0" err="1"/>
              <a:t>xlsx</a:t>
            </a:r>
            <a:r>
              <a:rPr dirty="0"/>
              <a:t>)</a:t>
            </a:r>
            <a:br>
              <a:rPr dirty="0"/>
            </a:br>
            <a:r>
              <a:rPr dirty="0"/>
              <a:t>5. Click </a:t>
            </a:r>
            <a:r>
              <a:rPr dirty="0" smtClean="0"/>
              <a:t>Save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Use LEN function to find length of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52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Formula:</a:t>
            </a:r>
            <a:br>
              <a:rPr dirty="0"/>
            </a:br>
            <a:r>
              <a:rPr dirty="0"/>
              <a:t>=LEN(A1)</a:t>
            </a:r>
            <a:br>
              <a:rPr dirty="0"/>
            </a:br>
            <a:r>
              <a:rPr dirty="0"/>
              <a:t>→ Returns the number of characters in cell A1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Examples:</a:t>
            </a:r>
            <a:br>
              <a:rPr dirty="0"/>
            </a:br>
            <a:r>
              <a:rPr dirty="0"/>
              <a:t>=LEN("Excel") → 5</a:t>
            </a:r>
            <a:br>
              <a:rPr dirty="0"/>
            </a:br>
            <a:r>
              <a:rPr dirty="0"/>
              <a:t>=LEN("NEXA Computer") → 14</a:t>
            </a:r>
            <a:br>
              <a:rPr dirty="0"/>
            </a:br>
            <a:r>
              <a:rPr dirty="0"/>
              <a:t>=LEN(A2) → Returns however many characters are in cell A2</a:t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 smtClean="0"/>
              <a:t>Location</a:t>
            </a:r>
            <a:r>
              <a:rPr dirty="0"/>
              <a:t>: Formulas Tab &gt;&gt; Text &gt;&gt; LEN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Tip: LEN function counts all characters including letters, numbers, and spaces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444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Use UPPER, LOWER, and PROPER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14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=UPPER(A1)</a:t>
            </a:r>
            <a:br>
              <a:rPr dirty="0"/>
            </a:br>
            <a:r>
              <a:rPr dirty="0"/>
              <a:t>→ Converts all letters to CAPITAL</a:t>
            </a:r>
            <a:br>
              <a:rPr dirty="0"/>
            </a:br>
            <a:r>
              <a:rPr dirty="0"/>
              <a:t>   Example: =UPPER("excel") → EXCEL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=LOWER(A1)</a:t>
            </a:r>
            <a:br>
              <a:rPr dirty="0"/>
            </a:br>
            <a:r>
              <a:rPr dirty="0"/>
              <a:t>→ Converts all letters to small</a:t>
            </a:r>
            <a:br>
              <a:rPr dirty="0"/>
            </a:br>
            <a:r>
              <a:rPr dirty="0"/>
              <a:t>   Example: =LOWER("EXCEL") → excel</a:t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 smtClean="0"/>
              <a:t>=</a:t>
            </a:r>
            <a:r>
              <a:rPr dirty="0"/>
              <a:t>PROPER(A1)</a:t>
            </a:r>
            <a:br>
              <a:rPr dirty="0"/>
            </a:br>
            <a:r>
              <a:rPr dirty="0"/>
              <a:t>→ Capitalizes the first letter of each word</a:t>
            </a:r>
            <a:br>
              <a:rPr dirty="0"/>
            </a:br>
            <a:r>
              <a:rPr dirty="0"/>
              <a:t>   Example: =PROPER("</a:t>
            </a:r>
            <a:r>
              <a:rPr dirty="0" err="1"/>
              <a:t>nexa</a:t>
            </a:r>
            <a:r>
              <a:rPr dirty="0"/>
              <a:t> computer") → </a:t>
            </a:r>
            <a:r>
              <a:rPr dirty="0" err="1"/>
              <a:t>Nexa</a:t>
            </a:r>
            <a:r>
              <a:rPr dirty="0"/>
              <a:t> Computer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Location: Formulas Tab &gt;&gt; Text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Tip: Text functions help clean and standardize your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97983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Use LEFT, RIGHT, and MID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14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>=LEFT(A1,3)</a:t>
            </a:r>
            <a:br>
              <a:rPr dirty="0"/>
            </a:br>
            <a:r>
              <a:rPr dirty="0"/>
              <a:t>→ Returns the first 3 characters from the left</a:t>
            </a:r>
            <a:br>
              <a:rPr dirty="0"/>
            </a:br>
            <a:r>
              <a:rPr dirty="0"/>
              <a:t>   Example: =LEFT("Excel",3) → </a:t>
            </a:r>
            <a:r>
              <a:rPr dirty="0" err="1"/>
              <a:t>Exc</a:t>
            </a:r>
            <a:r>
              <a:rPr dirty="0"/>
              <a:t/>
            </a:r>
            <a:br>
              <a:rPr dirty="0"/>
            </a:br>
            <a:r>
              <a:rPr dirty="0" smtClean="0"/>
              <a:t/>
            </a:r>
            <a:br>
              <a:rPr dirty="0" smtClean="0"/>
            </a:br>
            <a:r>
              <a:rPr dirty="0"/>
              <a:t>=RIGHT(A1,3)</a:t>
            </a:r>
            <a:br>
              <a:rPr dirty="0"/>
            </a:br>
            <a:r>
              <a:rPr dirty="0"/>
              <a:t>→ Returns the last 3 characters from the right</a:t>
            </a:r>
            <a:br>
              <a:rPr dirty="0"/>
            </a:br>
            <a:r>
              <a:rPr dirty="0"/>
              <a:t>   Example: =RIGHT("Excel",3) → </a:t>
            </a:r>
            <a:r>
              <a:rPr dirty="0" err="1"/>
              <a:t>cel</a:t>
            </a:r>
            <a:r>
              <a:rPr dirty="0"/>
              <a:t/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 smtClean="0"/>
              <a:t>=MID(A1,2,3)</a:t>
            </a:r>
            <a:br>
              <a:rPr dirty="0" smtClean="0"/>
            </a:br>
            <a:r>
              <a:rPr dirty="0" smtClean="0"/>
              <a:t>→ Returns 3 characters starting from position 2</a:t>
            </a:r>
            <a:br>
              <a:rPr dirty="0" smtClean="0"/>
            </a:br>
            <a:r>
              <a:rPr dirty="0" smtClean="0"/>
              <a:t>   Example: =MID("Excel",2,3) → </a:t>
            </a:r>
            <a:r>
              <a:rPr dirty="0" err="1" smtClean="0"/>
              <a:t>xce</a:t>
            </a:r>
            <a:r>
              <a:rPr dirty="0" smtClean="0"/>
              <a:t/>
            </a:r>
            <a:br>
              <a:rPr dirty="0" smtClean="0"/>
            </a:br>
            <a:r>
              <a:rPr dirty="0" smtClean="0"/>
              <a:t/>
            </a:r>
            <a:br>
              <a:rPr dirty="0" smtClean="0"/>
            </a:br>
            <a:r>
              <a:rPr dirty="0" smtClean="0"/>
              <a:t>Location: Formulas Tab &gt;&gt; Text</a:t>
            </a:r>
          </a:p>
          <a:p>
            <a:r>
              <a:rPr dirty="0" smtClean="0"/>
              <a:t/>
            </a:r>
            <a:br>
              <a:rPr dirty="0" smtClean="0"/>
            </a:br>
            <a:r>
              <a:rPr dirty="0" smtClean="0"/>
              <a:t>Tip: LEFT, RIGHT, and MID extract specific portions of text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99063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97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rPr dirty="0"/>
              <a:t>Q. Use AND </a:t>
            </a:r>
            <a:r>
              <a:rPr dirty="0" err="1"/>
              <a:t>and</a:t>
            </a:r>
            <a:r>
              <a:rPr dirty="0"/>
              <a:t> OR logical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08347"/>
              </p:ext>
            </p:extLst>
          </p:nvPr>
        </p:nvGraphicFramePr>
        <p:xfrm>
          <a:off x="1402080" y="3012362"/>
          <a:ext cx="9357359" cy="266207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68327"/>
                <a:gridCol w="1368327"/>
                <a:gridCol w="2023982"/>
                <a:gridCol w="1795929"/>
                <a:gridCol w="2800794"/>
              </a:tblGrid>
              <a:tr h="4573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Student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Marks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Attendance %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AND Result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OR Result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4573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Aman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4573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Neha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78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40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FALSE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16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Ravi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30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10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FALSE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FALSE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4573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Priya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95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4573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Karan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TRUE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TRUE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 smtClean="0"/>
              <a:t>=AND(B2&gt;50,C2&gt;75)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→ Returns TRUE only if BOTH conditions are TRUE</a:t>
            </a:r>
            <a:br>
              <a:rPr lang="en-US" dirty="0"/>
            </a:br>
            <a:r>
              <a:rPr lang="en-US" dirty="0"/>
              <a:t>   Example: </a:t>
            </a:r>
            <a:r>
              <a:rPr lang="en-US" dirty="0" smtClean="0"/>
              <a:t>B2=85, C2=92 </a:t>
            </a:r>
            <a:r>
              <a:rPr lang="en-US" dirty="0"/>
              <a:t>→ TRUE</a:t>
            </a:r>
            <a:br>
              <a:rPr lang="en-US" dirty="0"/>
            </a:br>
            <a:r>
              <a:rPr lang="en-US" dirty="0"/>
              <a:t>   Example: </a:t>
            </a:r>
            <a:r>
              <a:rPr lang="en-US" dirty="0" smtClean="0"/>
              <a:t>B3=78, C3=40 </a:t>
            </a:r>
            <a:r>
              <a:rPr lang="en-US" dirty="0"/>
              <a:t>→ FALSE</a:t>
            </a:r>
            <a:br>
              <a:rPr lang="en-US" dirty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62262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NEXA Computer Institute  |  MS Excel 2010  |  Exercise 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14300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 smtClean="0"/>
              <a:t>=</a:t>
            </a:r>
            <a:r>
              <a:rPr lang="en-US" dirty="0"/>
              <a:t>OR(B2&gt;50,C2&gt;75</a:t>
            </a:r>
            <a:r>
              <a:rPr lang="en-US" dirty="0" smtClean="0"/>
              <a:t>)</a:t>
            </a:r>
          </a:p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 smtClean="0"/>
              <a:t>→ </a:t>
            </a:r>
            <a:r>
              <a:rPr lang="en-US" dirty="0"/>
              <a:t>Returns TRUE if ANY ONE condition is TRUE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/>
              <a:t>Example: B2=85, C2=92 → TRUE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Example</a:t>
            </a:r>
            <a:r>
              <a:rPr lang="en-US" dirty="0"/>
              <a:t>: B3=78, C3=40 → </a:t>
            </a:r>
            <a:r>
              <a:rPr lang="en-US" dirty="0" smtClean="0"/>
              <a:t>FALSE</a:t>
            </a:r>
          </a:p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/>
              <a:t>Example: </a:t>
            </a:r>
            <a:r>
              <a:rPr lang="en-US" dirty="0" smtClean="0"/>
              <a:t>B4=30</a:t>
            </a:r>
            <a:r>
              <a:rPr lang="en-US" smtClean="0"/>
              <a:t>, C4=10 </a:t>
            </a:r>
            <a:r>
              <a:rPr lang="en-US" dirty="0"/>
              <a:t>→ FALSE</a:t>
            </a:r>
          </a:p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Location: Formulas Tab &gt;&gt; Logical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Tip: AND = TRUE only if all conditions are TRUE | OR = TRUE if at least one is TRUE</a:t>
            </a:r>
          </a:p>
          <a:p>
            <a:pPr>
              <a:lnSpc>
                <a:spcPct val="125000"/>
              </a:lnSpc>
              <a:defRPr sz="2000">
                <a:solidFill>
                  <a:srgbClr val="2C3E50"/>
                </a:solidFill>
              </a:defRPr>
            </a:pPr>
            <a:r>
              <a:rPr dirty="0"/>
              <a:t/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74266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1A366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QUERIES PLEASE</a:t>
            </a:r>
            <a:endParaRPr lang="en-US" sz="54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3600" b="1" kern="0" spc="300" dirty="0">
                <a:solidFill>
                  <a:srgbClr val="E8A33D"/>
                </a:solidFill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06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691</Words>
  <Application>Microsoft Office PowerPoint</Application>
  <PresentationFormat>Custom</PresentationFormat>
  <Paragraphs>290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14</cp:revision>
  <dcterms:created xsi:type="dcterms:W3CDTF">2013-01-27T09:14:16Z</dcterms:created>
  <dcterms:modified xsi:type="dcterms:W3CDTF">2026-08-06T04:14:40Z</dcterms:modified>
  <cp:category/>
</cp:coreProperties>
</file>