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257" r:id="rId3"/>
    <p:sldId id="258" r:id="rId4"/>
    <p:sldId id="298" r:id="rId5"/>
    <p:sldId id="259" r:id="rId6"/>
    <p:sldId id="260" r:id="rId7"/>
    <p:sldId id="261" r:id="rId8"/>
    <p:sldId id="262" r:id="rId9"/>
    <p:sldId id="263" r:id="rId10"/>
    <p:sldId id="264" r:id="rId11"/>
    <p:sldId id="265" r:id="rId12"/>
    <p:sldId id="266" r:id="rId13"/>
    <p:sldId id="299"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8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620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ellipse">
            <a:avLst/>
          </a:prstGeom>
          <a:solidFill>
            <a:srgbClr val="21A366">
              <a:alpha val="30000"/>
            </a:srgbClr>
          </a:solidFill>
          <a:ln/>
        </p:spPr>
      </p:sp>
      <p:sp>
        <p:nvSpPr>
          <p:cNvPr id="3" name="Shape 1"/>
          <p:cNvSpPr/>
          <p:nvPr/>
        </p:nvSpPr>
        <p:spPr>
          <a:xfrm>
            <a:off x="9144000" y="4114800"/>
            <a:ext cx="4572000" cy="4572000"/>
          </a:xfrm>
          <a:prstGeom prst="ellipse">
            <a:avLst/>
          </a:prstGeom>
          <a:solidFill>
            <a:srgbClr val="E8A33D">
              <a:alpha val="20000"/>
            </a:srgbClr>
          </a:solidFill>
          <a:ln/>
        </p:spPr>
      </p:sp>
      <p:sp>
        <p:nvSpPr>
          <p:cNvPr id="4" name="Text 2"/>
          <p:cNvSpPr/>
          <p:nvPr/>
        </p:nvSpPr>
        <p:spPr>
          <a:xfrm>
            <a:off x="822960" y="2194560"/>
            <a:ext cx="10058400" cy="548640"/>
          </a:xfrm>
          <a:prstGeom prst="rect">
            <a:avLst/>
          </a:prstGeom>
          <a:noFill/>
          <a:ln/>
        </p:spPr>
        <p:txBody>
          <a:bodyPr wrap="square" rtlCol="0" anchor="ctr"/>
          <a:lstStyle/>
          <a:p>
            <a:pPr marL="0" indent="0">
              <a:buNone/>
            </a:pPr>
            <a:r>
              <a:rPr lang="en-US" sz="6600" b="1" kern="0" spc="200" dirty="0">
                <a:solidFill>
                  <a:srgbClr val="FF0000"/>
                </a:solidFill>
                <a:latin typeface="Calibri" pitchFamily="34" charset="0"/>
                <a:ea typeface="Calibri" pitchFamily="34" charset="-122"/>
                <a:cs typeface="Calibri" pitchFamily="34" charset="-120"/>
              </a:rPr>
              <a:t>NEXA Computer Institute</a:t>
            </a:r>
            <a:endParaRPr lang="en-US" sz="6600" b="1" dirty="0">
              <a:solidFill>
                <a:srgbClr val="FF0000"/>
              </a:solidFill>
            </a:endParaRPr>
          </a:p>
        </p:txBody>
      </p:sp>
      <p:sp>
        <p:nvSpPr>
          <p:cNvPr id="5" name="Text 3"/>
          <p:cNvSpPr/>
          <p:nvPr/>
        </p:nvSpPr>
        <p:spPr>
          <a:xfrm>
            <a:off x="777240" y="2651760"/>
            <a:ext cx="10515600" cy="118872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Microsoft Excel 2010</a:t>
            </a:r>
            <a:endParaRPr lang="en-US" sz="4800" dirty="0"/>
          </a:p>
        </p:txBody>
      </p:sp>
      <p:sp>
        <p:nvSpPr>
          <p:cNvPr id="6" name="Text 4"/>
          <p:cNvSpPr/>
          <p:nvPr/>
        </p:nvSpPr>
        <p:spPr>
          <a:xfrm>
            <a:off x="822960" y="3703320"/>
            <a:ext cx="9601200" cy="548640"/>
          </a:xfrm>
          <a:prstGeom prst="rect">
            <a:avLst/>
          </a:prstGeom>
          <a:noFill/>
          <a:ln/>
        </p:spPr>
        <p:txBody>
          <a:bodyPr wrap="square" rtlCol="0" anchor="ctr"/>
          <a:lstStyle/>
          <a:p>
            <a:pPr marL="0" indent="0">
              <a:buNone/>
            </a:pPr>
            <a:r>
              <a:rPr lang="en-US" sz="1800" dirty="0">
                <a:solidFill>
                  <a:srgbClr val="E8A33D"/>
                </a:solidFill>
                <a:latin typeface="Calibri" pitchFamily="34" charset="0"/>
                <a:ea typeface="Calibri" pitchFamily="34" charset="-122"/>
                <a:cs typeface="Calibri" pitchFamily="34" charset="-120"/>
              </a:rPr>
              <a:t>The Ribbon Interface — A Complete Guide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What is Microsoft Excel 2010?</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Microsoft Excel 2010 is a spreadsheet application in the Microsoft Office 2010 suite. It replaced the classic menus and toolbars of Excel 2003 with the Ribbon — a single, tabbed strip of commands introduced in Office 2007 and refined in 2010.</a:t>
            </a:r>
            <a:endParaRPr lang="en-US" sz="2800" dirty="0"/>
          </a:p>
          <a:p>
            <a:pPr marL="0" indent="0" algn="just">
              <a:lnSpc>
                <a:spcPct val="130000"/>
              </a:lnSpc>
              <a:buNone/>
            </a:pPr>
            <a:endParaRPr lang="en-US" sz="2800" dirty="0"/>
          </a:p>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Spreadsheets are still used to work with numbers and text, but Excel 2010 adds a larger grid, Backstage View, and many new visual and analysis tools.</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4000" b="1" dirty="0">
                <a:solidFill>
                  <a:srgbClr val="1F2E26"/>
                </a:solidFill>
                <a:latin typeface="Cambria" pitchFamily="34" charset="0"/>
                <a:ea typeface="Cambria" pitchFamily="34" charset="-122"/>
                <a:cs typeface="Cambria" pitchFamily="34" charset="-120"/>
              </a:rPr>
              <a:t>The Excel 2010 Window</a:t>
            </a:r>
            <a:endParaRPr lang="en-US" sz="40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400" b="1" kern="0" spc="100" dirty="0">
                <a:solidFill>
                  <a:srgbClr val="185C37"/>
                </a:solidFill>
                <a:latin typeface="Calibri" pitchFamily="34" charset="0"/>
                <a:ea typeface="Calibri" pitchFamily="34" charset="-122"/>
                <a:cs typeface="Calibri" pitchFamily="34" charset="-120"/>
              </a:rPr>
              <a:t>OVERVIEW</a:t>
            </a:r>
            <a:endParaRPr lang="en-US" sz="1400" dirty="0"/>
          </a:p>
        </p:txBody>
      </p:sp>
      <p:sp>
        <p:nvSpPr>
          <p:cNvPr id="5" name="Shape 3"/>
          <p:cNvSpPr/>
          <p:nvPr/>
        </p:nvSpPr>
        <p:spPr>
          <a:xfrm>
            <a:off x="640080" y="1586484"/>
            <a:ext cx="566928" cy="566928"/>
          </a:xfrm>
          <a:prstGeom prst="ellipse">
            <a:avLst/>
          </a:prstGeom>
          <a:solidFill>
            <a:srgbClr val="21A366"/>
          </a:solidFill>
          <a:ln/>
        </p:spPr>
      </p:sp>
      <p:sp>
        <p:nvSpPr>
          <p:cNvPr id="6" name="Text 4"/>
          <p:cNvSpPr/>
          <p:nvPr/>
        </p:nvSpPr>
        <p:spPr>
          <a:xfrm>
            <a:off x="640080" y="1586484"/>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R</a:t>
            </a:r>
            <a:endParaRPr lang="en-US" sz="32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Ribbon</a:t>
            </a:r>
            <a:endParaRPr lang="en-US" sz="2400" dirty="0"/>
          </a:p>
        </p:txBody>
      </p:sp>
      <p:sp>
        <p:nvSpPr>
          <p:cNvPr id="8" name="Text 6"/>
          <p:cNvSpPr/>
          <p:nvPr/>
        </p:nvSpPr>
        <p:spPr>
          <a:xfrm>
            <a:off x="1508760" y="1764792"/>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Sits at the top of the window and organizes every command into tabs — Home, Insert, Page Layout, Formulas, Data, Review and View.</a:t>
            </a:r>
            <a:endParaRPr lang="en-US" dirty="0"/>
          </a:p>
        </p:txBody>
      </p:sp>
      <p:sp>
        <p:nvSpPr>
          <p:cNvPr id="9" name="Shape 7"/>
          <p:cNvSpPr/>
          <p:nvPr/>
        </p:nvSpPr>
        <p:spPr>
          <a:xfrm>
            <a:off x="640080" y="2395728"/>
            <a:ext cx="10835640" cy="0"/>
          </a:xfrm>
          <a:prstGeom prst="line">
            <a:avLst/>
          </a:prstGeom>
          <a:noFill/>
          <a:ln w="12700">
            <a:solidFill>
              <a:srgbClr val="E3ECE7"/>
            </a:solidFill>
            <a:prstDash val="solid"/>
          </a:ln>
        </p:spPr>
      </p:sp>
      <p:sp>
        <p:nvSpPr>
          <p:cNvPr id="10" name="Shape 8"/>
          <p:cNvSpPr/>
          <p:nvPr/>
        </p:nvSpPr>
        <p:spPr>
          <a:xfrm>
            <a:off x="640080" y="2583180"/>
            <a:ext cx="566928" cy="566928"/>
          </a:xfrm>
          <a:prstGeom prst="ellipse">
            <a:avLst/>
          </a:prstGeom>
          <a:solidFill>
            <a:srgbClr val="21A366"/>
          </a:solidFill>
          <a:ln/>
        </p:spPr>
      </p:sp>
      <p:sp>
        <p:nvSpPr>
          <p:cNvPr id="11" name="Text 9"/>
          <p:cNvSpPr/>
          <p:nvPr/>
        </p:nvSpPr>
        <p:spPr>
          <a:xfrm>
            <a:off x="640080" y="2583180"/>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Q</a:t>
            </a:r>
            <a:endParaRPr lang="en-US" sz="3200" dirty="0"/>
          </a:p>
        </p:txBody>
      </p:sp>
      <p:sp>
        <p:nvSpPr>
          <p:cNvPr id="12" name="Text 10"/>
          <p:cNvSpPr/>
          <p:nvPr/>
        </p:nvSpPr>
        <p:spPr>
          <a:xfrm>
            <a:off x="1508760" y="2432304"/>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Quick Access Toolbar (QAT)</a:t>
            </a:r>
            <a:endParaRPr lang="en-US" sz="2400" dirty="0"/>
          </a:p>
        </p:txBody>
      </p:sp>
      <p:sp>
        <p:nvSpPr>
          <p:cNvPr id="13" name="Text 11"/>
          <p:cNvSpPr/>
          <p:nvPr/>
        </p:nvSpPr>
        <p:spPr>
          <a:xfrm>
            <a:off x="1508760" y="2761488"/>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A small, customizable strip above (or below) the Ribbon for your most-used commands, such as Save, Undo and Redo.</a:t>
            </a:r>
            <a:endParaRPr lang="en-US" dirty="0"/>
          </a:p>
        </p:txBody>
      </p:sp>
      <p:sp>
        <p:nvSpPr>
          <p:cNvPr id="14" name="Shape 12"/>
          <p:cNvSpPr/>
          <p:nvPr/>
        </p:nvSpPr>
        <p:spPr>
          <a:xfrm>
            <a:off x="640080" y="3392424"/>
            <a:ext cx="10835640" cy="0"/>
          </a:xfrm>
          <a:prstGeom prst="line">
            <a:avLst/>
          </a:prstGeom>
          <a:noFill/>
          <a:ln w="12700">
            <a:solidFill>
              <a:srgbClr val="E3ECE7"/>
            </a:solidFill>
            <a:prstDash val="solid"/>
          </a:ln>
        </p:spPr>
      </p:sp>
      <p:sp>
        <p:nvSpPr>
          <p:cNvPr id="15" name="Shape 13"/>
          <p:cNvSpPr/>
          <p:nvPr/>
        </p:nvSpPr>
        <p:spPr>
          <a:xfrm>
            <a:off x="640080" y="3579876"/>
            <a:ext cx="566928" cy="566928"/>
          </a:xfrm>
          <a:prstGeom prst="ellipse">
            <a:avLst/>
          </a:prstGeom>
          <a:solidFill>
            <a:srgbClr val="21A366"/>
          </a:solidFill>
          <a:ln/>
        </p:spPr>
      </p:sp>
      <p:sp>
        <p:nvSpPr>
          <p:cNvPr id="16" name="Text 14"/>
          <p:cNvSpPr/>
          <p:nvPr/>
        </p:nvSpPr>
        <p:spPr>
          <a:xfrm>
            <a:off x="640080" y="3579876"/>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N</a:t>
            </a:r>
            <a:endParaRPr lang="en-US" sz="3200" dirty="0"/>
          </a:p>
        </p:txBody>
      </p:sp>
      <p:sp>
        <p:nvSpPr>
          <p:cNvPr id="17" name="Text 15"/>
          <p:cNvSpPr/>
          <p:nvPr/>
        </p:nvSpPr>
        <p:spPr>
          <a:xfrm>
            <a:off x="1508760" y="3429000"/>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Name Box &amp; Formula Bar</a:t>
            </a:r>
            <a:endParaRPr lang="en-US" sz="2400" dirty="0"/>
          </a:p>
        </p:txBody>
      </p:sp>
      <p:sp>
        <p:nvSpPr>
          <p:cNvPr id="18" name="Text 16"/>
          <p:cNvSpPr/>
          <p:nvPr/>
        </p:nvSpPr>
        <p:spPr>
          <a:xfrm>
            <a:off x="1508760" y="3758184"/>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The Name Box shows the active cell's address; the Formula Bar shows and edits its contents or formula.</a:t>
            </a:r>
            <a:endParaRPr lang="en-US" dirty="0"/>
          </a:p>
        </p:txBody>
      </p:sp>
      <p:sp>
        <p:nvSpPr>
          <p:cNvPr id="19" name="Shape 17"/>
          <p:cNvSpPr/>
          <p:nvPr/>
        </p:nvSpPr>
        <p:spPr>
          <a:xfrm>
            <a:off x="640080" y="4389120"/>
            <a:ext cx="10835640" cy="0"/>
          </a:xfrm>
          <a:prstGeom prst="line">
            <a:avLst/>
          </a:prstGeom>
          <a:noFill/>
          <a:ln w="12700">
            <a:solidFill>
              <a:srgbClr val="E3ECE7"/>
            </a:solidFill>
            <a:prstDash val="solid"/>
          </a:ln>
        </p:spPr>
      </p:sp>
      <p:sp>
        <p:nvSpPr>
          <p:cNvPr id="20" name="Shape 18"/>
          <p:cNvSpPr/>
          <p:nvPr/>
        </p:nvSpPr>
        <p:spPr>
          <a:xfrm>
            <a:off x="640080" y="4576572"/>
            <a:ext cx="566928" cy="566928"/>
          </a:xfrm>
          <a:prstGeom prst="ellipse">
            <a:avLst/>
          </a:prstGeom>
          <a:solidFill>
            <a:srgbClr val="21A366"/>
          </a:solidFill>
          <a:ln/>
        </p:spPr>
      </p:sp>
      <p:sp>
        <p:nvSpPr>
          <p:cNvPr id="21" name="Text 19"/>
          <p:cNvSpPr/>
          <p:nvPr/>
        </p:nvSpPr>
        <p:spPr>
          <a:xfrm>
            <a:off x="640080" y="4576572"/>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W</a:t>
            </a:r>
            <a:endParaRPr lang="en-US" sz="3200" dirty="0"/>
          </a:p>
        </p:txBody>
      </p:sp>
      <p:sp>
        <p:nvSpPr>
          <p:cNvPr id="22" name="Text 20"/>
          <p:cNvSpPr/>
          <p:nvPr/>
        </p:nvSpPr>
        <p:spPr>
          <a:xfrm>
            <a:off x="1508760" y="4425696"/>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Worksheet grid &amp; Sheet tabs</a:t>
            </a:r>
            <a:endParaRPr lang="en-US" sz="2400" dirty="0"/>
          </a:p>
        </p:txBody>
      </p:sp>
      <p:sp>
        <p:nvSpPr>
          <p:cNvPr id="23" name="Text 21"/>
          <p:cNvSpPr/>
          <p:nvPr/>
        </p:nvSpPr>
        <p:spPr>
          <a:xfrm>
            <a:off x="1508760" y="4754880"/>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The grid of columns and rows where data is entered, with sheet tabs at the bottom to move between worksheets.</a:t>
            </a:r>
            <a:endParaRPr lang="en-US" dirty="0"/>
          </a:p>
        </p:txBody>
      </p:sp>
      <p:sp>
        <p:nvSpPr>
          <p:cNvPr id="24" name="Shape 22"/>
          <p:cNvSpPr/>
          <p:nvPr/>
        </p:nvSpPr>
        <p:spPr>
          <a:xfrm>
            <a:off x="640080" y="5385816"/>
            <a:ext cx="10835640" cy="0"/>
          </a:xfrm>
          <a:prstGeom prst="line">
            <a:avLst/>
          </a:prstGeom>
          <a:noFill/>
          <a:ln w="12700">
            <a:solidFill>
              <a:srgbClr val="E3ECE7"/>
            </a:solidFill>
            <a:prstDash val="solid"/>
          </a:ln>
        </p:spPr>
      </p:sp>
      <p:sp>
        <p:nvSpPr>
          <p:cNvPr id="25" name="Shape 23"/>
          <p:cNvSpPr/>
          <p:nvPr/>
        </p:nvSpPr>
        <p:spPr>
          <a:xfrm>
            <a:off x="640080" y="5573268"/>
            <a:ext cx="566928" cy="566928"/>
          </a:xfrm>
          <a:prstGeom prst="ellipse">
            <a:avLst/>
          </a:prstGeom>
          <a:solidFill>
            <a:srgbClr val="21A366"/>
          </a:solidFill>
          <a:ln/>
        </p:spPr>
      </p:sp>
      <p:sp>
        <p:nvSpPr>
          <p:cNvPr id="26" name="Text 24"/>
          <p:cNvSpPr/>
          <p:nvPr/>
        </p:nvSpPr>
        <p:spPr>
          <a:xfrm>
            <a:off x="640080" y="5573268"/>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S</a:t>
            </a:r>
            <a:endParaRPr lang="en-US" sz="3200" dirty="0"/>
          </a:p>
        </p:txBody>
      </p:sp>
      <p:sp>
        <p:nvSpPr>
          <p:cNvPr id="27" name="Text 25"/>
          <p:cNvSpPr/>
          <p:nvPr/>
        </p:nvSpPr>
        <p:spPr>
          <a:xfrm>
            <a:off x="1508760" y="5422392"/>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Status bar</a:t>
            </a:r>
            <a:endParaRPr lang="en-US" sz="2400" dirty="0"/>
          </a:p>
        </p:txBody>
      </p:sp>
      <p:sp>
        <p:nvSpPr>
          <p:cNvPr id="28" name="Text 26"/>
          <p:cNvSpPr/>
          <p:nvPr/>
        </p:nvSpPr>
        <p:spPr>
          <a:xfrm>
            <a:off x="1508760" y="5751576"/>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Runs along the bottom and shows quick calculations (Sum, Average, Count) along with View shortcuts and the Zoom slider.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xplore Window in Excel">
            <a:extLst>
              <a:ext uri="{FF2B5EF4-FFF2-40B4-BE49-F238E27FC236}">
                <a16:creationId xmlns:a16="http://schemas.microsoft.com/office/drawing/2014/main" id="{0E22E810-E755-02D9-AC1E-59FE4F1417D9}"/>
              </a:ext>
            </a:extLst>
          </p:cNvPr>
          <p:cNvPicPr>
            <a:picLocks noChangeAspect="1"/>
          </p:cNvPicPr>
          <p:nvPr/>
        </p:nvPicPr>
        <p:blipFill>
          <a:blip r:embed="rId2"/>
          <a:stretch>
            <a:fillRect/>
          </a:stretch>
        </p:blipFill>
        <p:spPr>
          <a:xfrm>
            <a:off x="2190307" y="55555"/>
            <a:ext cx="7814930" cy="6746890"/>
          </a:xfrm>
          <a:prstGeom prst="rect">
            <a:avLst/>
          </a:prstGeom>
        </p:spPr>
      </p:pic>
      <p:cxnSp>
        <p:nvCxnSpPr>
          <p:cNvPr id="4" name="Straight Arrow Connector 3">
            <a:extLst>
              <a:ext uri="{FF2B5EF4-FFF2-40B4-BE49-F238E27FC236}">
                <a16:creationId xmlns:a16="http://schemas.microsoft.com/office/drawing/2014/main" id="{77F25B64-99DB-FD2A-35D4-2BB4AB2CD5D4}"/>
              </a:ext>
            </a:extLst>
          </p:cNvPr>
          <p:cNvCxnSpPr/>
          <p:nvPr/>
        </p:nvCxnSpPr>
        <p:spPr>
          <a:xfrm>
            <a:off x="1467293" y="2456121"/>
            <a:ext cx="1233377"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5" name="TextBox 4">
            <a:extLst>
              <a:ext uri="{FF2B5EF4-FFF2-40B4-BE49-F238E27FC236}">
                <a16:creationId xmlns:a16="http://schemas.microsoft.com/office/drawing/2014/main" id="{E1CA46A8-8709-4D41-565E-35CF86774D7F}"/>
              </a:ext>
            </a:extLst>
          </p:cNvPr>
          <p:cNvSpPr txBox="1"/>
          <p:nvPr/>
        </p:nvSpPr>
        <p:spPr>
          <a:xfrm>
            <a:off x="275620" y="2286000"/>
            <a:ext cx="1191673" cy="369332"/>
          </a:xfrm>
          <a:prstGeom prst="rect">
            <a:avLst/>
          </a:prstGeom>
          <a:noFill/>
        </p:spPr>
        <p:txBody>
          <a:bodyPr wrap="none" rtlCol="0">
            <a:spAutoFit/>
          </a:bodyPr>
          <a:lstStyle/>
          <a:p>
            <a:r>
              <a:rPr lang="en-US" dirty="0"/>
              <a:t>Name  Box</a:t>
            </a:r>
          </a:p>
        </p:txBody>
      </p:sp>
      <p:cxnSp>
        <p:nvCxnSpPr>
          <p:cNvPr id="6" name="Straight Arrow Connector 5">
            <a:extLst>
              <a:ext uri="{FF2B5EF4-FFF2-40B4-BE49-F238E27FC236}">
                <a16:creationId xmlns:a16="http://schemas.microsoft.com/office/drawing/2014/main" id="{2A4F4333-158A-AEE9-71E1-F7C0AC3CB427}"/>
              </a:ext>
            </a:extLst>
          </p:cNvPr>
          <p:cNvCxnSpPr>
            <a:cxnSpLocks/>
          </p:cNvCxnSpPr>
          <p:nvPr/>
        </p:nvCxnSpPr>
        <p:spPr>
          <a:xfrm flipV="1">
            <a:off x="5307300" y="2393799"/>
            <a:ext cx="0" cy="716663"/>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0A4C7D0C-F90E-344D-30D0-CAAAABA9B2D2}"/>
              </a:ext>
            </a:extLst>
          </p:cNvPr>
          <p:cNvSpPr txBox="1"/>
          <p:nvPr/>
        </p:nvSpPr>
        <p:spPr>
          <a:xfrm>
            <a:off x="4711463" y="3110462"/>
            <a:ext cx="1324465" cy="369332"/>
          </a:xfrm>
          <a:prstGeom prst="rect">
            <a:avLst/>
          </a:prstGeom>
          <a:noFill/>
        </p:spPr>
        <p:txBody>
          <a:bodyPr wrap="none" rtlCol="0">
            <a:spAutoFit/>
          </a:bodyPr>
          <a:lstStyle/>
          <a:p>
            <a:r>
              <a:rPr lang="en-US" dirty="0"/>
              <a:t>Formula bar</a:t>
            </a:r>
          </a:p>
        </p:txBody>
      </p:sp>
      <p:cxnSp>
        <p:nvCxnSpPr>
          <p:cNvPr id="10" name="Straight Arrow Connector 9">
            <a:extLst>
              <a:ext uri="{FF2B5EF4-FFF2-40B4-BE49-F238E27FC236}">
                <a16:creationId xmlns:a16="http://schemas.microsoft.com/office/drawing/2014/main" id="{0496B05E-6EA9-15A8-2C93-B63017E2BC1C}"/>
              </a:ext>
            </a:extLst>
          </p:cNvPr>
          <p:cNvCxnSpPr>
            <a:cxnSpLocks/>
          </p:cNvCxnSpPr>
          <p:nvPr/>
        </p:nvCxnSpPr>
        <p:spPr>
          <a:xfrm flipH="1">
            <a:off x="9787388" y="935665"/>
            <a:ext cx="526193" cy="0"/>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B7D9235A-EA4D-40C2-E194-F048E49E1481}"/>
              </a:ext>
            </a:extLst>
          </p:cNvPr>
          <p:cNvSpPr txBox="1"/>
          <p:nvPr/>
        </p:nvSpPr>
        <p:spPr>
          <a:xfrm>
            <a:off x="10383813" y="750999"/>
            <a:ext cx="1808187" cy="369332"/>
          </a:xfrm>
          <a:prstGeom prst="rect">
            <a:avLst/>
          </a:prstGeom>
          <a:noFill/>
        </p:spPr>
        <p:txBody>
          <a:bodyPr wrap="none" rtlCol="0">
            <a:spAutoFit/>
          </a:bodyPr>
          <a:lstStyle/>
          <a:p>
            <a:r>
              <a:rPr lang="en-US" dirty="0"/>
              <a:t>Window Controls</a:t>
            </a:r>
          </a:p>
        </p:txBody>
      </p:sp>
    </p:spTree>
    <p:extLst>
      <p:ext uri="{BB962C8B-B14F-4D97-AF65-F5344CB8AC3E}">
        <p14:creationId xmlns:p14="http://schemas.microsoft.com/office/powerpoint/2010/main" val="2626631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Workbook &amp; Worksheets</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Also called a spreadsheet, a workbook is a unique file created by Excel and saved with the .xlsx extension (Excel 2003 used .xls).</a:t>
            </a:r>
            <a:endParaRPr lang="en-US" sz="2800" dirty="0"/>
          </a:p>
          <a:p>
            <a:pPr marL="0" indent="0" algn="just">
              <a:lnSpc>
                <a:spcPct val="130000"/>
              </a:lnSpc>
              <a:buNone/>
            </a:pPr>
            <a:endParaRPr lang="en-US" sz="2800" dirty="0"/>
          </a:p>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By default, a new workbook opens with worksheets labeled Sheet1, Sheet2 and Sheet3 — additional sheets can be inserted at any time using the Insert Worksheet button next to the sheet tabs.</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Title Bar &amp; Quick Access Toolbar</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OVERVIEW</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Title bar</a:t>
            </a:r>
            <a:endParaRPr lang="en-US" sz="32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Displays the name of the application and the name of the open workbook, and sits at the very top of the window.</a:t>
            </a:r>
            <a:endParaRPr lang="en-US" sz="24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Q</a:t>
            </a:r>
            <a:endParaRPr lang="en-US" sz="40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Quick Access Toolbar</a:t>
            </a:r>
            <a:endParaRPr lang="en-US" sz="32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Positioned beside the Title bar by default. It holds Save, Undo and Redo, and can be customized to add any Ribbon command you use often.</a:t>
            </a:r>
            <a:endParaRPr lang="en-US" sz="24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W</a:t>
            </a:r>
            <a:endParaRPr lang="en-US" sz="40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Window controls</a:t>
            </a:r>
            <a:endParaRPr lang="en-US" sz="32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Minimize, Restore/Maximize and Close buttons sit at the top-right corner, exactly as in earlier Excel versions.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The Ribbon (replaces the Menu bar)</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In Excel 2003, commands lived in the Menu bar — File, Edit, View, Insert, Format, Tools, Data, Window and Help. Excel 2010 replaces this entirely with the Ribbon.</a:t>
            </a:r>
            <a:endParaRPr lang="en-US" sz="2800" dirty="0"/>
          </a:p>
          <a:p>
            <a:pPr marL="0" indent="0" algn="just">
              <a:lnSpc>
                <a:spcPct val="130000"/>
              </a:lnSpc>
              <a:buNone/>
            </a:pPr>
            <a:endParaRPr lang="en-US" sz="2800" dirty="0"/>
          </a:p>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The Ribbon groups related commands into Tabs (Home, Insert, Page Layout...), and each tab is divided into labeled Groups (like Clipboard or Font), so related tools are always visible together instead of buried in a menu.</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Columns &amp; Rows</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603504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Each Excel 2010 worksheet is dramatically larger than in Excel 2003. Columns are still identified by letters and rows by numbers, and a cell reference like B12 still means column B, row 12.</a:t>
            </a:r>
            <a:endParaRPr lang="en-US" sz="2800" dirty="0"/>
          </a:p>
        </p:txBody>
      </p:sp>
      <p:sp>
        <p:nvSpPr>
          <p:cNvPr id="5" name="Shape 3"/>
          <p:cNvSpPr/>
          <p:nvPr/>
        </p:nvSpPr>
        <p:spPr>
          <a:xfrm>
            <a:off x="7315200" y="1463040"/>
            <a:ext cx="4206240" cy="1463040"/>
          </a:xfrm>
          <a:prstGeom prst="roundRect">
            <a:avLst>
              <a:gd name="adj" fmla="val 5000"/>
            </a:avLst>
          </a:prstGeom>
          <a:solidFill>
            <a:srgbClr val="F4F9F6"/>
          </a:solidFill>
          <a:ln/>
        </p:spPr>
      </p:sp>
      <p:sp>
        <p:nvSpPr>
          <p:cNvPr id="6" name="Text 4"/>
          <p:cNvSpPr/>
          <p:nvPr/>
        </p:nvSpPr>
        <p:spPr>
          <a:xfrm>
            <a:off x="7498080" y="1600200"/>
            <a:ext cx="3840480" cy="685800"/>
          </a:xfrm>
          <a:prstGeom prst="rect">
            <a:avLst/>
          </a:prstGeom>
          <a:noFill/>
          <a:ln/>
        </p:spPr>
        <p:txBody>
          <a:bodyPr wrap="square" rtlCol="0" anchor="ctr"/>
          <a:lstStyle/>
          <a:p>
            <a:pPr marL="0" indent="0">
              <a:buNone/>
            </a:pPr>
            <a:r>
              <a:rPr lang="en-US" sz="3000" b="1" dirty="0">
                <a:solidFill>
                  <a:srgbClr val="185C37"/>
                </a:solidFill>
                <a:latin typeface="Cambria" pitchFamily="34" charset="0"/>
                <a:ea typeface="Cambria" pitchFamily="34" charset="-122"/>
                <a:cs typeface="Cambria" pitchFamily="34" charset="-120"/>
              </a:rPr>
              <a:t>16,384</a:t>
            </a:r>
            <a:endParaRPr lang="en-US" sz="3000" dirty="0"/>
          </a:p>
        </p:txBody>
      </p:sp>
      <p:sp>
        <p:nvSpPr>
          <p:cNvPr id="7" name="Text 5"/>
          <p:cNvSpPr/>
          <p:nvPr/>
        </p:nvSpPr>
        <p:spPr>
          <a:xfrm>
            <a:off x="7498080" y="2331720"/>
            <a:ext cx="3840480" cy="457200"/>
          </a:xfrm>
          <a:prstGeom prst="rect">
            <a:avLst/>
          </a:prstGeom>
          <a:noFill/>
          <a:ln/>
        </p:spPr>
        <p:txBody>
          <a:bodyPr wrap="square" rtlCol="0" anchor="ctr"/>
          <a:lstStyle/>
          <a:p>
            <a:pPr marL="0" indent="0">
              <a:buNone/>
            </a:pPr>
            <a:r>
              <a:rPr lang="en-US" sz="1250" dirty="0">
                <a:solidFill>
                  <a:srgbClr val="5B6B62"/>
                </a:solidFill>
                <a:latin typeface="Calibri" pitchFamily="34" charset="0"/>
                <a:ea typeface="Calibri" pitchFamily="34" charset="-122"/>
                <a:cs typeface="Calibri" pitchFamily="34" charset="-120"/>
              </a:rPr>
              <a:t>Columns (A to XFD) — up from 256 in Excel 2003</a:t>
            </a:r>
            <a:endParaRPr lang="en-US" sz="1250" dirty="0"/>
          </a:p>
        </p:txBody>
      </p:sp>
      <p:sp>
        <p:nvSpPr>
          <p:cNvPr id="8" name="Shape 6"/>
          <p:cNvSpPr/>
          <p:nvPr/>
        </p:nvSpPr>
        <p:spPr>
          <a:xfrm>
            <a:off x="7315200" y="3200400"/>
            <a:ext cx="4206240" cy="1463040"/>
          </a:xfrm>
          <a:prstGeom prst="roundRect">
            <a:avLst>
              <a:gd name="adj" fmla="val 5000"/>
            </a:avLst>
          </a:prstGeom>
          <a:solidFill>
            <a:srgbClr val="F4F9F6"/>
          </a:solidFill>
          <a:ln/>
        </p:spPr>
      </p:sp>
      <p:sp>
        <p:nvSpPr>
          <p:cNvPr id="9" name="Text 7"/>
          <p:cNvSpPr/>
          <p:nvPr/>
        </p:nvSpPr>
        <p:spPr>
          <a:xfrm>
            <a:off x="7498080" y="3337560"/>
            <a:ext cx="3840480" cy="685800"/>
          </a:xfrm>
          <a:prstGeom prst="rect">
            <a:avLst/>
          </a:prstGeom>
          <a:noFill/>
          <a:ln/>
        </p:spPr>
        <p:txBody>
          <a:bodyPr wrap="square" rtlCol="0" anchor="ctr"/>
          <a:lstStyle/>
          <a:p>
            <a:pPr marL="0" indent="0">
              <a:buNone/>
            </a:pPr>
            <a:r>
              <a:rPr lang="en-US" sz="3000" b="1" dirty="0">
                <a:solidFill>
                  <a:srgbClr val="185C37"/>
                </a:solidFill>
                <a:latin typeface="Cambria" pitchFamily="34" charset="0"/>
                <a:ea typeface="Cambria" pitchFamily="34" charset="-122"/>
                <a:cs typeface="Cambria" pitchFamily="34" charset="-120"/>
              </a:rPr>
              <a:t>1,048,576</a:t>
            </a:r>
            <a:endParaRPr lang="en-US" sz="3000" dirty="0"/>
          </a:p>
        </p:txBody>
      </p:sp>
      <p:sp>
        <p:nvSpPr>
          <p:cNvPr id="10" name="Text 8"/>
          <p:cNvSpPr/>
          <p:nvPr/>
        </p:nvSpPr>
        <p:spPr>
          <a:xfrm>
            <a:off x="7498080" y="4069080"/>
            <a:ext cx="3840480" cy="457200"/>
          </a:xfrm>
          <a:prstGeom prst="rect">
            <a:avLst/>
          </a:prstGeom>
          <a:noFill/>
          <a:ln/>
        </p:spPr>
        <p:txBody>
          <a:bodyPr wrap="square" rtlCol="0" anchor="ctr"/>
          <a:lstStyle/>
          <a:p>
            <a:pPr marL="0" indent="0">
              <a:buNone/>
            </a:pPr>
            <a:r>
              <a:rPr lang="en-US" sz="1250" dirty="0">
                <a:solidFill>
                  <a:srgbClr val="5B6B62"/>
                </a:solidFill>
                <a:latin typeface="Calibri" pitchFamily="34" charset="0"/>
                <a:ea typeface="Calibri" pitchFamily="34" charset="-122"/>
                <a:cs typeface="Calibri" pitchFamily="34" charset="-120"/>
              </a:rPr>
              <a:t>Rows — up from 65,536 in Excel 2003</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Cell &amp; Cell Reference</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A cell is the intersection of a column and a row, and remains the basic unit of an Excel worksheet in 2010 exactly as it was in 2003.</a:t>
            </a:r>
            <a:endParaRPr lang="en-US" sz="2800" dirty="0"/>
          </a:p>
          <a:p>
            <a:pPr marL="0" indent="0" algn="just">
              <a:lnSpc>
                <a:spcPct val="130000"/>
              </a:lnSpc>
              <a:buNone/>
            </a:pPr>
            <a:endParaRPr lang="en-US" sz="2800" dirty="0"/>
          </a:p>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Every cell has a unique address (its cell reference), such as A1 or XFD1048576, shown in the Name Box whenever that cell is selected.</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Navigation Buttons &amp; Sheet Tabs</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Navigation buttons, found to the left of the sheet tabs, let you move to the first, previous, next or last worksheet in a workbook — useful when a workbook has many sheets.</a:t>
            </a:r>
            <a:endParaRPr lang="en-US" sz="2800" dirty="0"/>
          </a:p>
          <a:p>
            <a:pPr marL="0" indent="0" algn="just">
              <a:lnSpc>
                <a:spcPct val="130000"/>
              </a:lnSpc>
              <a:buNone/>
            </a:pPr>
            <a:endParaRPr lang="en-US" sz="2800" dirty="0"/>
          </a:p>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Sheet tabs themselves can be renamed, colored, moved, copied or deleted by right-clicking them, and the Insert Worksheet icon next to the tabs adds a new sheet instantly.</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Scrolling Through the Worksheet</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The vertical scroll bar, along the right edge of the window, moves the view up or down the spreadsheet.</a:t>
            </a:r>
            <a:endParaRPr lang="en-US" sz="2800" dirty="0"/>
          </a:p>
          <a:p>
            <a:pPr marL="0" indent="0" algn="just">
              <a:lnSpc>
                <a:spcPct val="130000"/>
              </a:lnSpc>
              <a:buNone/>
            </a:pPr>
            <a:endParaRPr lang="en-US" sz="2800" dirty="0"/>
          </a:p>
          <a:p>
            <a:pPr marL="0" indent="0" algn="just">
              <a:lnSpc>
                <a:spcPct val="130000"/>
              </a:lnSpc>
              <a:buNone/>
            </a:pPr>
            <a:r>
              <a:rPr lang="en-US" sz="2800" dirty="0">
                <a:solidFill>
                  <a:srgbClr val="1F2E26"/>
                </a:solidFill>
                <a:latin typeface="Calibri" pitchFamily="34" charset="0"/>
                <a:ea typeface="Calibri" pitchFamily="34" charset="-122"/>
                <a:cs typeface="Calibri" pitchFamily="34" charset="-120"/>
              </a:rPr>
              <a:t>The horizontal scroll bar, along the bottom edge, moves the view left or right — both work identically to Excel 2003, and mouse-wheel scrolling is fully supported.</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Some Important Terms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OVERVIEW</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Cell address</a:t>
            </a:r>
            <a:endParaRPr lang="en-US" sz="32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The unique location of a cell, made up of its column letter and row number, e.g. C5.</a:t>
            </a:r>
            <a:endParaRPr lang="en-US" sz="24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A</a:t>
            </a:r>
            <a:endParaRPr lang="en-US" sz="40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Active cell</a:t>
            </a:r>
            <a:endParaRPr lang="en-US" sz="32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The cell that currently receives data or a command; it is outlined by a darkened border called the cell pointer.</a:t>
            </a:r>
            <a:endParaRPr lang="en-US" sz="24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N</a:t>
            </a:r>
            <a:endParaRPr lang="en-US" sz="40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Name Box</a:t>
            </a:r>
            <a:endParaRPr lang="en-US" sz="32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The box at the left of the Formula Bar that displays — and can be used to jump to — the active cell's address.</a:t>
            </a:r>
            <a:endParaRPr lang="en-US" sz="24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W</a:t>
            </a:r>
            <a:endParaRPr lang="en-US" sz="40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Worksheet tab</a:t>
            </a:r>
            <a:endParaRPr lang="en-US" sz="32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To move to a different worksheet, click the tab labeled Sheet1, Sheet2, and so on, at the bottom of the window.</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Explore Window in Excel">
            <a:extLst>
              <a:ext uri="{FF2B5EF4-FFF2-40B4-BE49-F238E27FC236}">
                <a16:creationId xmlns:a16="http://schemas.microsoft.com/office/drawing/2014/main" id="{DE4ACF2C-91DA-149D-5481-7E05605CED19}"/>
              </a:ext>
            </a:extLst>
          </p:cNvPr>
          <p:cNvPicPr>
            <a:picLocks noChangeAspect="1"/>
          </p:cNvPicPr>
          <p:nvPr/>
        </p:nvPicPr>
        <p:blipFill>
          <a:blip r:embed="rId2"/>
          <a:stretch>
            <a:fillRect/>
          </a:stretch>
        </p:blipFill>
        <p:spPr>
          <a:xfrm>
            <a:off x="2158409" y="28017"/>
            <a:ext cx="7878726" cy="6801966"/>
          </a:xfrm>
          <a:prstGeom prst="rect">
            <a:avLst/>
          </a:prstGeom>
        </p:spPr>
      </p:pic>
    </p:spTree>
    <p:extLst>
      <p:ext uri="{BB962C8B-B14F-4D97-AF65-F5344CB8AC3E}">
        <p14:creationId xmlns:p14="http://schemas.microsoft.com/office/powerpoint/2010/main" val="3840456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600" b="1" dirty="0">
                <a:solidFill>
                  <a:srgbClr val="1F2E26"/>
                </a:solidFill>
                <a:latin typeface="Cambria" pitchFamily="34" charset="0"/>
                <a:ea typeface="Cambria" pitchFamily="34" charset="-122"/>
                <a:cs typeface="Cambria" pitchFamily="34" charset="-120"/>
              </a:rPr>
              <a:t>The Ribbon Tabs</a:t>
            </a:r>
            <a:endParaRPr lang="en-US" sz="3600" dirty="0"/>
          </a:p>
        </p:txBody>
      </p:sp>
      <p:sp>
        <p:nvSpPr>
          <p:cNvPr id="3" name="Text 1"/>
          <p:cNvSpPr/>
          <p:nvPr/>
        </p:nvSpPr>
        <p:spPr>
          <a:xfrm>
            <a:off x="640080" y="1051560"/>
            <a:ext cx="10058400" cy="365760"/>
          </a:xfrm>
          <a:prstGeom prst="rect">
            <a:avLst/>
          </a:prstGeom>
          <a:noFill/>
          <a:ln/>
        </p:spPr>
        <p:txBody>
          <a:bodyPr wrap="square" rtlCol="0" anchor="ctr"/>
          <a:lstStyle/>
          <a:p>
            <a:pPr marL="0" indent="0">
              <a:buNone/>
            </a:pPr>
            <a:r>
              <a:rPr lang="en-US" sz="2400" dirty="0">
                <a:solidFill>
                  <a:srgbClr val="5B6B62"/>
                </a:solidFill>
                <a:latin typeface="Calibri" pitchFamily="34" charset="0"/>
                <a:ea typeface="Calibri" pitchFamily="34" charset="-122"/>
                <a:cs typeface="Calibri" pitchFamily="34" charset="-120"/>
              </a:rPr>
              <a:t>Excel 2010's commands are grouped under eight main tabs:</a:t>
            </a:r>
            <a:endParaRPr lang="en-US" sz="2400" dirty="0"/>
          </a:p>
        </p:txBody>
      </p:sp>
      <p:sp>
        <p:nvSpPr>
          <p:cNvPr id="4" name="Shape 2"/>
          <p:cNvSpPr/>
          <p:nvPr/>
        </p:nvSpPr>
        <p:spPr>
          <a:xfrm>
            <a:off x="658368" y="1828800"/>
            <a:ext cx="2514600" cy="1965960"/>
          </a:xfrm>
          <a:prstGeom prst="roundRect">
            <a:avLst>
              <a:gd name="adj" fmla="val 3721"/>
            </a:avLst>
          </a:prstGeom>
          <a:solidFill>
            <a:srgbClr val="185C37"/>
          </a:solidFill>
          <a:ln/>
        </p:spPr>
      </p:sp>
      <p:sp>
        <p:nvSpPr>
          <p:cNvPr id="5" name="Shape 3"/>
          <p:cNvSpPr/>
          <p:nvPr/>
        </p:nvSpPr>
        <p:spPr>
          <a:xfrm>
            <a:off x="1623060" y="2084832"/>
            <a:ext cx="585216" cy="585216"/>
          </a:xfrm>
          <a:prstGeom prst="ellipse">
            <a:avLst/>
          </a:prstGeom>
          <a:solidFill>
            <a:srgbClr val="E8A33D"/>
          </a:solidFill>
          <a:ln/>
        </p:spPr>
      </p:sp>
      <p:sp>
        <p:nvSpPr>
          <p:cNvPr id="6" name="Text 4"/>
          <p:cNvSpPr/>
          <p:nvPr/>
        </p:nvSpPr>
        <p:spPr>
          <a:xfrm>
            <a:off x="1623060" y="208483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7" name="Text 5"/>
          <p:cNvSpPr/>
          <p:nvPr/>
        </p:nvSpPr>
        <p:spPr>
          <a:xfrm>
            <a:off x="749808" y="2834640"/>
            <a:ext cx="2331720" cy="822960"/>
          </a:xfrm>
          <a:prstGeom prst="rect">
            <a:avLst/>
          </a:prstGeom>
          <a:noFill/>
          <a:ln/>
        </p:spPr>
        <p:txBody>
          <a:bodyPr wrap="square" rtlCol="0" anchor="t"/>
          <a:lstStyle/>
          <a:p>
            <a:pPr marL="0" indent="0" algn="ctr">
              <a:buNone/>
            </a:pPr>
            <a:r>
              <a:rPr lang="en-US" sz="2800" b="1" dirty="0">
                <a:solidFill>
                  <a:srgbClr val="FFFFFF"/>
                </a:solidFill>
                <a:latin typeface="Calibri" pitchFamily="34" charset="0"/>
                <a:ea typeface="Calibri" pitchFamily="34" charset="-122"/>
                <a:cs typeface="Calibri" pitchFamily="34" charset="-120"/>
              </a:rPr>
              <a:t>File</a:t>
            </a:r>
            <a:endParaRPr lang="en-US" sz="2800" dirty="0"/>
          </a:p>
        </p:txBody>
      </p:sp>
      <p:sp>
        <p:nvSpPr>
          <p:cNvPr id="8" name="Shape 6"/>
          <p:cNvSpPr/>
          <p:nvPr/>
        </p:nvSpPr>
        <p:spPr>
          <a:xfrm>
            <a:off x="3447288" y="1828800"/>
            <a:ext cx="2514600" cy="1965960"/>
          </a:xfrm>
          <a:prstGeom prst="roundRect">
            <a:avLst>
              <a:gd name="adj" fmla="val 3721"/>
            </a:avLst>
          </a:prstGeom>
          <a:solidFill>
            <a:srgbClr val="F4F9F6"/>
          </a:solidFill>
          <a:ln/>
        </p:spPr>
      </p:sp>
      <p:sp>
        <p:nvSpPr>
          <p:cNvPr id="9" name="Shape 7"/>
          <p:cNvSpPr/>
          <p:nvPr/>
        </p:nvSpPr>
        <p:spPr>
          <a:xfrm>
            <a:off x="4411980" y="2084832"/>
            <a:ext cx="585216" cy="585216"/>
          </a:xfrm>
          <a:prstGeom prst="ellipse">
            <a:avLst/>
          </a:prstGeom>
          <a:solidFill>
            <a:srgbClr val="21A366"/>
          </a:solidFill>
          <a:ln/>
        </p:spPr>
      </p:sp>
      <p:sp>
        <p:nvSpPr>
          <p:cNvPr id="10" name="Text 8"/>
          <p:cNvSpPr/>
          <p:nvPr/>
        </p:nvSpPr>
        <p:spPr>
          <a:xfrm>
            <a:off x="4411980" y="208483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H</a:t>
            </a:r>
            <a:endParaRPr lang="en-US" sz="4000" dirty="0"/>
          </a:p>
        </p:txBody>
      </p:sp>
      <p:sp>
        <p:nvSpPr>
          <p:cNvPr id="11" name="Text 9"/>
          <p:cNvSpPr/>
          <p:nvPr/>
        </p:nvSpPr>
        <p:spPr>
          <a:xfrm>
            <a:off x="3538728" y="283464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Home</a:t>
            </a:r>
            <a:endParaRPr lang="en-US" sz="2800" dirty="0"/>
          </a:p>
        </p:txBody>
      </p:sp>
      <p:sp>
        <p:nvSpPr>
          <p:cNvPr id="12" name="Shape 10"/>
          <p:cNvSpPr/>
          <p:nvPr/>
        </p:nvSpPr>
        <p:spPr>
          <a:xfrm>
            <a:off x="6236208" y="1828800"/>
            <a:ext cx="2514600" cy="1965960"/>
          </a:xfrm>
          <a:prstGeom prst="roundRect">
            <a:avLst>
              <a:gd name="adj" fmla="val 3721"/>
            </a:avLst>
          </a:prstGeom>
          <a:solidFill>
            <a:srgbClr val="F4F9F6"/>
          </a:solidFill>
          <a:ln/>
        </p:spPr>
      </p:sp>
      <p:sp>
        <p:nvSpPr>
          <p:cNvPr id="13" name="Shape 11"/>
          <p:cNvSpPr/>
          <p:nvPr/>
        </p:nvSpPr>
        <p:spPr>
          <a:xfrm>
            <a:off x="7200900" y="2084832"/>
            <a:ext cx="585216" cy="585216"/>
          </a:xfrm>
          <a:prstGeom prst="ellipse">
            <a:avLst/>
          </a:prstGeom>
          <a:solidFill>
            <a:srgbClr val="21A366"/>
          </a:solidFill>
          <a:ln/>
        </p:spPr>
      </p:sp>
      <p:sp>
        <p:nvSpPr>
          <p:cNvPr id="14" name="Text 12"/>
          <p:cNvSpPr/>
          <p:nvPr/>
        </p:nvSpPr>
        <p:spPr>
          <a:xfrm>
            <a:off x="7200900" y="208483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I</a:t>
            </a:r>
            <a:endParaRPr lang="en-US" sz="4000" dirty="0"/>
          </a:p>
        </p:txBody>
      </p:sp>
      <p:sp>
        <p:nvSpPr>
          <p:cNvPr id="15" name="Text 13"/>
          <p:cNvSpPr/>
          <p:nvPr/>
        </p:nvSpPr>
        <p:spPr>
          <a:xfrm>
            <a:off x="6327648" y="283464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Insert</a:t>
            </a:r>
            <a:endParaRPr lang="en-US" sz="2800" dirty="0"/>
          </a:p>
        </p:txBody>
      </p:sp>
      <p:sp>
        <p:nvSpPr>
          <p:cNvPr id="16" name="Shape 14"/>
          <p:cNvSpPr/>
          <p:nvPr/>
        </p:nvSpPr>
        <p:spPr>
          <a:xfrm>
            <a:off x="9025128" y="1828800"/>
            <a:ext cx="2514600" cy="1965960"/>
          </a:xfrm>
          <a:prstGeom prst="roundRect">
            <a:avLst>
              <a:gd name="adj" fmla="val 3721"/>
            </a:avLst>
          </a:prstGeom>
          <a:solidFill>
            <a:srgbClr val="F4F9F6"/>
          </a:solidFill>
          <a:ln/>
        </p:spPr>
      </p:sp>
      <p:sp>
        <p:nvSpPr>
          <p:cNvPr id="17" name="Shape 15"/>
          <p:cNvSpPr/>
          <p:nvPr/>
        </p:nvSpPr>
        <p:spPr>
          <a:xfrm>
            <a:off x="9989820" y="2084832"/>
            <a:ext cx="585216" cy="585216"/>
          </a:xfrm>
          <a:prstGeom prst="ellipse">
            <a:avLst/>
          </a:prstGeom>
          <a:solidFill>
            <a:srgbClr val="21A366"/>
          </a:solidFill>
          <a:ln/>
        </p:spPr>
      </p:sp>
      <p:sp>
        <p:nvSpPr>
          <p:cNvPr id="18" name="Text 16"/>
          <p:cNvSpPr/>
          <p:nvPr/>
        </p:nvSpPr>
        <p:spPr>
          <a:xfrm>
            <a:off x="9989820" y="208483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P</a:t>
            </a:r>
            <a:endParaRPr lang="en-US" sz="4000" dirty="0"/>
          </a:p>
        </p:txBody>
      </p:sp>
      <p:sp>
        <p:nvSpPr>
          <p:cNvPr id="19" name="Text 17"/>
          <p:cNvSpPr/>
          <p:nvPr/>
        </p:nvSpPr>
        <p:spPr>
          <a:xfrm>
            <a:off x="9116568" y="283464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Page Layout</a:t>
            </a:r>
            <a:endParaRPr lang="en-US" sz="2800" dirty="0"/>
          </a:p>
        </p:txBody>
      </p:sp>
      <p:sp>
        <p:nvSpPr>
          <p:cNvPr id="20" name="Shape 18"/>
          <p:cNvSpPr/>
          <p:nvPr/>
        </p:nvSpPr>
        <p:spPr>
          <a:xfrm>
            <a:off x="658368" y="4069080"/>
            <a:ext cx="2514600" cy="1965960"/>
          </a:xfrm>
          <a:prstGeom prst="roundRect">
            <a:avLst>
              <a:gd name="adj" fmla="val 3721"/>
            </a:avLst>
          </a:prstGeom>
          <a:solidFill>
            <a:srgbClr val="F4F9F6"/>
          </a:solidFill>
          <a:ln/>
        </p:spPr>
      </p:sp>
      <p:sp>
        <p:nvSpPr>
          <p:cNvPr id="21" name="Shape 19"/>
          <p:cNvSpPr/>
          <p:nvPr/>
        </p:nvSpPr>
        <p:spPr>
          <a:xfrm>
            <a:off x="1623060" y="4325112"/>
            <a:ext cx="585216" cy="585216"/>
          </a:xfrm>
          <a:prstGeom prst="ellipse">
            <a:avLst/>
          </a:prstGeom>
          <a:solidFill>
            <a:srgbClr val="21A366"/>
          </a:solidFill>
          <a:ln/>
        </p:spPr>
      </p:sp>
      <p:sp>
        <p:nvSpPr>
          <p:cNvPr id="22" name="Text 20"/>
          <p:cNvSpPr/>
          <p:nvPr/>
        </p:nvSpPr>
        <p:spPr>
          <a:xfrm>
            <a:off x="1623060" y="432511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23" name="Text 21"/>
          <p:cNvSpPr/>
          <p:nvPr/>
        </p:nvSpPr>
        <p:spPr>
          <a:xfrm>
            <a:off x="749808" y="507492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Formulas</a:t>
            </a:r>
            <a:endParaRPr lang="en-US" sz="2800" dirty="0"/>
          </a:p>
        </p:txBody>
      </p:sp>
      <p:sp>
        <p:nvSpPr>
          <p:cNvPr id="24" name="Shape 22"/>
          <p:cNvSpPr/>
          <p:nvPr/>
        </p:nvSpPr>
        <p:spPr>
          <a:xfrm>
            <a:off x="3447288" y="4069080"/>
            <a:ext cx="2514600" cy="1965960"/>
          </a:xfrm>
          <a:prstGeom prst="roundRect">
            <a:avLst>
              <a:gd name="adj" fmla="val 3721"/>
            </a:avLst>
          </a:prstGeom>
          <a:solidFill>
            <a:srgbClr val="F4F9F6"/>
          </a:solidFill>
          <a:ln/>
        </p:spPr>
      </p:sp>
      <p:sp>
        <p:nvSpPr>
          <p:cNvPr id="25" name="Shape 23"/>
          <p:cNvSpPr/>
          <p:nvPr/>
        </p:nvSpPr>
        <p:spPr>
          <a:xfrm>
            <a:off x="4411980" y="4325112"/>
            <a:ext cx="585216" cy="585216"/>
          </a:xfrm>
          <a:prstGeom prst="ellipse">
            <a:avLst/>
          </a:prstGeom>
          <a:solidFill>
            <a:srgbClr val="21A366"/>
          </a:solidFill>
          <a:ln/>
        </p:spPr>
      </p:sp>
      <p:sp>
        <p:nvSpPr>
          <p:cNvPr id="26" name="Text 24"/>
          <p:cNvSpPr/>
          <p:nvPr/>
        </p:nvSpPr>
        <p:spPr>
          <a:xfrm>
            <a:off x="4411980" y="432511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D</a:t>
            </a:r>
            <a:endParaRPr lang="en-US" sz="4000" dirty="0"/>
          </a:p>
        </p:txBody>
      </p:sp>
      <p:sp>
        <p:nvSpPr>
          <p:cNvPr id="27" name="Text 25"/>
          <p:cNvSpPr/>
          <p:nvPr/>
        </p:nvSpPr>
        <p:spPr>
          <a:xfrm>
            <a:off x="3538728" y="507492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Data</a:t>
            </a:r>
            <a:endParaRPr lang="en-US" sz="2800" dirty="0"/>
          </a:p>
        </p:txBody>
      </p:sp>
      <p:sp>
        <p:nvSpPr>
          <p:cNvPr id="28" name="Shape 26"/>
          <p:cNvSpPr/>
          <p:nvPr/>
        </p:nvSpPr>
        <p:spPr>
          <a:xfrm>
            <a:off x="6236208" y="4069080"/>
            <a:ext cx="2514600" cy="1965960"/>
          </a:xfrm>
          <a:prstGeom prst="roundRect">
            <a:avLst>
              <a:gd name="adj" fmla="val 3721"/>
            </a:avLst>
          </a:prstGeom>
          <a:solidFill>
            <a:srgbClr val="F4F9F6"/>
          </a:solidFill>
          <a:ln/>
        </p:spPr>
      </p:sp>
      <p:sp>
        <p:nvSpPr>
          <p:cNvPr id="29" name="Shape 27"/>
          <p:cNvSpPr/>
          <p:nvPr/>
        </p:nvSpPr>
        <p:spPr>
          <a:xfrm>
            <a:off x="7200900" y="4325112"/>
            <a:ext cx="585216" cy="585216"/>
          </a:xfrm>
          <a:prstGeom prst="ellipse">
            <a:avLst/>
          </a:prstGeom>
          <a:solidFill>
            <a:srgbClr val="21A366"/>
          </a:solidFill>
          <a:ln/>
        </p:spPr>
      </p:sp>
      <p:sp>
        <p:nvSpPr>
          <p:cNvPr id="30" name="Text 28"/>
          <p:cNvSpPr/>
          <p:nvPr/>
        </p:nvSpPr>
        <p:spPr>
          <a:xfrm>
            <a:off x="7200900" y="432511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R</a:t>
            </a:r>
            <a:endParaRPr lang="en-US" sz="4000" dirty="0"/>
          </a:p>
        </p:txBody>
      </p:sp>
      <p:sp>
        <p:nvSpPr>
          <p:cNvPr id="31" name="Text 29"/>
          <p:cNvSpPr/>
          <p:nvPr/>
        </p:nvSpPr>
        <p:spPr>
          <a:xfrm>
            <a:off x="6327648" y="507492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Review</a:t>
            </a:r>
            <a:endParaRPr lang="en-US" sz="2800" dirty="0"/>
          </a:p>
        </p:txBody>
      </p:sp>
      <p:sp>
        <p:nvSpPr>
          <p:cNvPr id="32" name="Shape 30"/>
          <p:cNvSpPr/>
          <p:nvPr/>
        </p:nvSpPr>
        <p:spPr>
          <a:xfrm>
            <a:off x="9025128" y="4069080"/>
            <a:ext cx="2514600" cy="1965960"/>
          </a:xfrm>
          <a:prstGeom prst="roundRect">
            <a:avLst>
              <a:gd name="adj" fmla="val 3721"/>
            </a:avLst>
          </a:prstGeom>
          <a:solidFill>
            <a:srgbClr val="F4F9F6"/>
          </a:solidFill>
          <a:ln/>
        </p:spPr>
      </p:sp>
      <p:sp>
        <p:nvSpPr>
          <p:cNvPr id="33" name="Shape 31"/>
          <p:cNvSpPr/>
          <p:nvPr/>
        </p:nvSpPr>
        <p:spPr>
          <a:xfrm>
            <a:off x="9989820" y="4325112"/>
            <a:ext cx="585216" cy="585216"/>
          </a:xfrm>
          <a:prstGeom prst="ellipse">
            <a:avLst/>
          </a:prstGeom>
          <a:solidFill>
            <a:srgbClr val="21A366"/>
          </a:solidFill>
          <a:ln/>
        </p:spPr>
      </p:sp>
      <p:sp>
        <p:nvSpPr>
          <p:cNvPr id="34" name="Text 32"/>
          <p:cNvSpPr/>
          <p:nvPr/>
        </p:nvSpPr>
        <p:spPr>
          <a:xfrm>
            <a:off x="9989820" y="4325112"/>
            <a:ext cx="585216" cy="585216"/>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V</a:t>
            </a:r>
            <a:endParaRPr lang="en-US" sz="4000" dirty="0"/>
          </a:p>
        </p:txBody>
      </p:sp>
      <p:sp>
        <p:nvSpPr>
          <p:cNvPr id="35" name="Text 33"/>
          <p:cNvSpPr/>
          <p:nvPr/>
        </p:nvSpPr>
        <p:spPr>
          <a:xfrm>
            <a:off x="9116568" y="5074920"/>
            <a:ext cx="2331720" cy="822960"/>
          </a:xfrm>
          <a:prstGeom prst="rect">
            <a:avLst/>
          </a:prstGeom>
          <a:noFill/>
          <a:ln/>
        </p:spPr>
        <p:txBody>
          <a:bodyPr wrap="square" rtlCol="0" anchor="t"/>
          <a:lstStyle/>
          <a:p>
            <a:pPr marL="0" indent="0" algn="ctr">
              <a:buNone/>
            </a:pPr>
            <a:r>
              <a:rPr lang="en-US" sz="2800" b="1" dirty="0">
                <a:solidFill>
                  <a:srgbClr val="185C37"/>
                </a:solidFill>
                <a:latin typeface="Calibri" pitchFamily="34" charset="0"/>
                <a:ea typeface="Calibri" pitchFamily="34" charset="-122"/>
                <a:cs typeface="Calibri" pitchFamily="34" charset="-120"/>
              </a:rPr>
              <a:t>View</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000" b="1" kern="0" spc="300" dirty="0">
                <a:solidFill>
                  <a:srgbClr val="E8A33D"/>
                </a:solidFill>
                <a:latin typeface="Calibri" pitchFamily="34" charset="0"/>
                <a:ea typeface="Calibri" pitchFamily="34" charset="-122"/>
                <a:cs typeface="Calibri" pitchFamily="34" charset="-120"/>
              </a:rPr>
              <a:t>01 / RIBBON TAB</a:t>
            </a:r>
            <a:endParaRPr lang="en-US" sz="20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File Tab</a:t>
            </a:r>
            <a:endParaRPr lang="en-US" sz="60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400" dirty="0">
                <a:solidFill>
                  <a:srgbClr val="CFE8D9"/>
                </a:solidFill>
                <a:latin typeface="Calibri" pitchFamily="34" charset="0"/>
                <a:ea typeface="Calibri" pitchFamily="34" charset="-122"/>
                <a:cs typeface="Calibri" pitchFamily="34" charset="-120"/>
              </a:rPr>
              <a:t>Backstage View — everything about the file itself: creating, opening, saving, printing and sharing.</a:t>
            </a:r>
            <a:endParaRPr lang="en-US" sz="24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File Tab — Managing Files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FILE TAB</a:t>
            </a:r>
            <a:endParaRPr lang="en-US" sz="1100" dirty="0"/>
          </a:p>
        </p:txBody>
      </p:sp>
      <p:sp>
        <p:nvSpPr>
          <p:cNvPr id="5" name="Shape 3"/>
          <p:cNvSpPr/>
          <p:nvPr/>
        </p:nvSpPr>
        <p:spPr>
          <a:xfrm>
            <a:off x="640080" y="1586484"/>
            <a:ext cx="566928" cy="566928"/>
          </a:xfrm>
          <a:prstGeom prst="ellipse">
            <a:avLst/>
          </a:prstGeom>
          <a:solidFill>
            <a:srgbClr val="21A366"/>
          </a:solidFill>
          <a:ln/>
        </p:spPr>
      </p:sp>
      <p:sp>
        <p:nvSpPr>
          <p:cNvPr id="6" name="Text 4"/>
          <p:cNvSpPr/>
          <p:nvPr/>
        </p:nvSpPr>
        <p:spPr>
          <a:xfrm>
            <a:off x="640080" y="1586484"/>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N</a:t>
            </a:r>
            <a:endParaRPr lang="en-US" sz="32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New</a:t>
            </a:r>
            <a:endParaRPr lang="en-US" sz="2400" dirty="0"/>
          </a:p>
        </p:txBody>
      </p:sp>
      <p:sp>
        <p:nvSpPr>
          <p:cNvPr id="8" name="Text 6"/>
          <p:cNvSpPr/>
          <p:nvPr/>
        </p:nvSpPr>
        <p:spPr>
          <a:xfrm>
            <a:off x="1508760" y="1764792"/>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Creates a new, blank workbook — accessed from Backstage View instead of a New command in a menu.</a:t>
            </a:r>
            <a:endParaRPr lang="en-US" dirty="0"/>
          </a:p>
        </p:txBody>
      </p:sp>
      <p:sp>
        <p:nvSpPr>
          <p:cNvPr id="9" name="Shape 7"/>
          <p:cNvSpPr/>
          <p:nvPr/>
        </p:nvSpPr>
        <p:spPr>
          <a:xfrm>
            <a:off x="640080" y="2395728"/>
            <a:ext cx="10835640" cy="0"/>
          </a:xfrm>
          <a:prstGeom prst="line">
            <a:avLst/>
          </a:prstGeom>
          <a:noFill/>
          <a:ln w="12700">
            <a:solidFill>
              <a:srgbClr val="E3ECE7"/>
            </a:solidFill>
            <a:prstDash val="solid"/>
          </a:ln>
        </p:spPr>
      </p:sp>
      <p:sp>
        <p:nvSpPr>
          <p:cNvPr id="10" name="Shape 8"/>
          <p:cNvSpPr/>
          <p:nvPr/>
        </p:nvSpPr>
        <p:spPr>
          <a:xfrm>
            <a:off x="640080" y="2583180"/>
            <a:ext cx="566928" cy="566928"/>
          </a:xfrm>
          <a:prstGeom prst="ellipse">
            <a:avLst/>
          </a:prstGeom>
          <a:solidFill>
            <a:srgbClr val="21A366"/>
          </a:solidFill>
          <a:ln/>
        </p:spPr>
      </p:sp>
      <p:sp>
        <p:nvSpPr>
          <p:cNvPr id="11" name="Text 9"/>
          <p:cNvSpPr/>
          <p:nvPr/>
        </p:nvSpPr>
        <p:spPr>
          <a:xfrm>
            <a:off x="640080" y="2583180"/>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O</a:t>
            </a:r>
            <a:endParaRPr lang="en-US" sz="3200" dirty="0"/>
          </a:p>
        </p:txBody>
      </p:sp>
      <p:sp>
        <p:nvSpPr>
          <p:cNvPr id="12" name="Text 10"/>
          <p:cNvSpPr/>
          <p:nvPr/>
        </p:nvSpPr>
        <p:spPr>
          <a:xfrm>
            <a:off x="1508760" y="2432304"/>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Open</a:t>
            </a:r>
            <a:endParaRPr lang="en-US" sz="2400" dirty="0"/>
          </a:p>
        </p:txBody>
      </p:sp>
      <p:sp>
        <p:nvSpPr>
          <p:cNvPr id="13" name="Text 11"/>
          <p:cNvSpPr/>
          <p:nvPr/>
        </p:nvSpPr>
        <p:spPr>
          <a:xfrm>
            <a:off x="1508760" y="2761488"/>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Opens an existing workbook; Backstage View also lists Recent workbooks for one-click access.</a:t>
            </a:r>
            <a:endParaRPr lang="en-US" dirty="0"/>
          </a:p>
        </p:txBody>
      </p:sp>
      <p:sp>
        <p:nvSpPr>
          <p:cNvPr id="14" name="Shape 12"/>
          <p:cNvSpPr/>
          <p:nvPr/>
        </p:nvSpPr>
        <p:spPr>
          <a:xfrm>
            <a:off x="640080" y="3392424"/>
            <a:ext cx="10835640" cy="0"/>
          </a:xfrm>
          <a:prstGeom prst="line">
            <a:avLst/>
          </a:prstGeom>
          <a:noFill/>
          <a:ln w="12700">
            <a:solidFill>
              <a:srgbClr val="E3ECE7"/>
            </a:solidFill>
            <a:prstDash val="solid"/>
          </a:ln>
        </p:spPr>
      </p:sp>
      <p:sp>
        <p:nvSpPr>
          <p:cNvPr id="15" name="Shape 13"/>
          <p:cNvSpPr/>
          <p:nvPr/>
        </p:nvSpPr>
        <p:spPr>
          <a:xfrm>
            <a:off x="640080" y="3579876"/>
            <a:ext cx="566928" cy="566928"/>
          </a:xfrm>
          <a:prstGeom prst="ellipse">
            <a:avLst/>
          </a:prstGeom>
          <a:solidFill>
            <a:srgbClr val="21A366"/>
          </a:solidFill>
          <a:ln/>
        </p:spPr>
      </p:sp>
      <p:sp>
        <p:nvSpPr>
          <p:cNvPr id="16" name="Text 14"/>
          <p:cNvSpPr/>
          <p:nvPr/>
        </p:nvSpPr>
        <p:spPr>
          <a:xfrm>
            <a:off x="640080" y="3579876"/>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C</a:t>
            </a:r>
            <a:endParaRPr lang="en-US" sz="3200" dirty="0"/>
          </a:p>
        </p:txBody>
      </p:sp>
      <p:sp>
        <p:nvSpPr>
          <p:cNvPr id="17" name="Text 15"/>
          <p:cNvSpPr/>
          <p:nvPr/>
        </p:nvSpPr>
        <p:spPr>
          <a:xfrm>
            <a:off x="1508760" y="3429000"/>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Close</a:t>
            </a:r>
            <a:endParaRPr lang="en-US" sz="2400" dirty="0"/>
          </a:p>
        </p:txBody>
      </p:sp>
      <p:sp>
        <p:nvSpPr>
          <p:cNvPr id="18" name="Text 16"/>
          <p:cNvSpPr/>
          <p:nvPr/>
        </p:nvSpPr>
        <p:spPr>
          <a:xfrm>
            <a:off x="1508760" y="3758184"/>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Closes the current workbook without closing the Excel program itself.</a:t>
            </a:r>
            <a:endParaRPr lang="en-US" dirty="0"/>
          </a:p>
        </p:txBody>
      </p:sp>
      <p:sp>
        <p:nvSpPr>
          <p:cNvPr id="19" name="Shape 17"/>
          <p:cNvSpPr/>
          <p:nvPr/>
        </p:nvSpPr>
        <p:spPr>
          <a:xfrm>
            <a:off x="640080" y="4389120"/>
            <a:ext cx="10835640" cy="0"/>
          </a:xfrm>
          <a:prstGeom prst="line">
            <a:avLst/>
          </a:prstGeom>
          <a:noFill/>
          <a:ln w="12700">
            <a:solidFill>
              <a:srgbClr val="E3ECE7"/>
            </a:solidFill>
            <a:prstDash val="solid"/>
          </a:ln>
        </p:spPr>
      </p:sp>
      <p:sp>
        <p:nvSpPr>
          <p:cNvPr id="20" name="Shape 18"/>
          <p:cNvSpPr/>
          <p:nvPr/>
        </p:nvSpPr>
        <p:spPr>
          <a:xfrm>
            <a:off x="640080" y="4576572"/>
            <a:ext cx="566928" cy="566928"/>
          </a:xfrm>
          <a:prstGeom prst="ellipse">
            <a:avLst/>
          </a:prstGeom>
          <a:solidFill>
            <a:srgbClr val="21A366"/>
          </a:solidFill>
          <a:ln/>
        </p:spPr>
      </p:sp>
      <p:sp>
        <p:nvSpPr>
          <p:cNvPr id="21" name="Text 19"/>
          <p:cNvSpPr/>
          <p:nvPr/>
        </p:nvSpPr>
        <p:spPr>
          <a:xfrm>
            <a:off x="640080" y="4576572"/>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S</a:t>
            </a:r>
            <a:endParaRPr lang="en-US" sz="3200" dirty="0"/>
          </a:p>
        </p:txBody>
      </p:sp>
      <p:sp>
        <p:nvSpPr>
          <p:cNvPr id="22" name="Text 20"/>
          <p:cNvSpPr/>
          <p:nvPr/>
        </p:nvSpPr>
        <p:spPr>
          <a:xfrm>
            <a:off x="1508760" y="4425696"/>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Save / Save As</a:t>
            </a:r>
            <a:endParaRPr lang="en-US" sz="2400" dirty="0"/>
          </a:p>
        </p:txBody>
      </p:sp>
      <p:sp>
        <p:nvSpPr>
          <p:cNvPr id="23" name="Text 21"/>
          <p:cNvSpPr/>
          <p:nvPr/>
        </p:nvSpPr>
        <p:spPr>
          <a:xfrm>
            <a:off x="1508760" y="4754880"/>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Save stores changes to the current file; Save As saves a copy under a new name, location or file type (including the older .xls format).</a:t>
            </a:r>
            <a:endParaRPr lang="en-US" dirty="0"/>
          </a:p>
        </p:txBody>
      </p:sp>
      <p:sp>
        <p:nvSpPr>
          <p:cNvPr id="24" name="Shape 22"/>
          <p:cNvSpPr/>
          <p:nvPr/>
        </p:nvSpPr>
        <p:spPr>
          <a:xfrm>
            <a:off x="640080" y="5385816"/>
            <a:ext cx="10835640" cy="0"/>
          </a:xfrm>
          <a:prstGeom prst="line">
            <a:avLst/>
          </a:prstGeom>
          <a:noFill/>
          <a:ln w="12700">
            <a:solidFill>
              <a:srgbClr val="E3ECE7"/>
            </a:solidFill>
            <a:prstDash val="solid"/>
          </a:ln>
        </p:spPr>
      </p:sp>
      <p:sp>
        <p:nvSpPr>
          <p:cNvPr id="25" name="Shape 23"/>
          <p:cNvSpPr/>
          <p:nvPr/>
        </p:nvSpPr>
        <p:spPr>
          <a:xfrm>
            <a:off x="640080" y="5573268"/>
            <a:ext cx="566928" cy="566928"/>
          </a:xfrm>
          <a:prstGeom prst="ellipse">
            <a:avLst/>
          </a:prstGeom>
          <a:solidFill>
            <a:srgbClr val="21A366"/>
          </a:solidFill>
          <a:ln/>
        </p:spPr>
      </p:sp>
      <p:sp>
        <p:nvSpPr>
          <p:cNvPr id="26" name="Text 24"/>
          <p:cNvSpPr/>
          <p:nvPr/>
        </p:nvSpPr>
        <p:spPr>
          <a:xfrm>
            <a:off x="640080" y="5573268"/>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P</a:t>
            </a:r>
            <a:endParaRPr lang="en-US" sz="3200" dirty="0"/>
          </a:p>
        </p:txBody>
      </p:sp>
      <p:sp>
        <p:nvSpPr>
          <p:cNvPr id="27" name="Text 25"/>
          <p:cNvSpPr/>
          <p:nvPr/>
        </p:nvSpPr>
        <p:spPr>
          <a:xfrm>
            <a:off x="1508760" y="5422392"/>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Print</a:t>
            </a:r>
            <a:endParaRPr lang="en-US" sz="2400" dirty="0"/>
          </a:p>
        </p:txBody>
      </p:sp>
      <p:sp>
        <p:nvSpPr>
          <p:cNvPr id="28" name="Text 26"/>
          <p:cNvSpPr/>
          <p:nvPr/>
        </p:nvSpPr>
        <p:spPr>
          <a:xfrm>
            <a:off x="1508760" y="5751576"/>
            <a:ext cx="9966960" cy="585216"/>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Combines the old Print, Print Preview and Page Setup commands into one Backstage screen with a live preview alongside print settings.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File Tab — Sharing &amp; Info</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FILE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S</a:t>
            </a:r>
            <a:endParaRPr lang="en-US" sz="32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Save &amp; Send</a:t>
            </a:r>
            <a:endParaRPr lang="en-US" sz="24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Replaces the old Send To and Save as Web Page commands — email the workbook, save it to the Web, or change its file type, all from one screen.</a:t>
            </a:r>
            <a:endParaRPr lang="en-US"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I</a:t>
            </a:r>
            <a:endParaRPr lang="en-US" sz="32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Info (Properties &amp; Permission)</a:t>
            </a:r>
            <a:endParaRPr lang="en-US" sz="24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Shows file properties (author, size, dates) and Protect Workbook options for permissions, exactly like the old Permission command but centralized in Backstage.</a:t>
            </a:r>
            <a:endParaRPr lang="en-US"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O</a:t>
            </a:r>
            <a:endParaRPr lang="en-US" sz="32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Options</a:t>
            </a:r>
            <a:endParaRPr lang="en-US" sz="24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Opens Excel Options for customizing the Ribbon, proofing, formulas, save behavior and more — replaces the old Tools &gt; Options menu.</a:t>
            </a:r>
            <a:endParaRPr lang="en-US"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E</a:t>
            </a:r>
            <a:endParaRPr lang="en-US" sz="32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2400" b="1" dirty="0">
                <a:solidFill>
                  <a:srgbClr val="185C37"/>
                </a:solidFill>
                <a:latin typeface="Calibri" pitchFamily="34" charset="0"/>
                <a:ea typeface="Calibri" pitchFamily="34" charset="-122"/>
                <a:cs typeface="Calibri" pitchFamily="34" charset="-120"/>
              </a:rPr>
              <a:t>Exit</a:t>
            </a:r>
            <a:endParaRPr lang="en-US" sz="24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dirty="0">
                <a:solidFill>
                  <a:srgbClr val="5B6B62"/>
                </a:solidFill>
                <a:latin typeface="Calibri" pitchFamily="34" charset="0"/>
                <a:ea typeface="Calibri" pitchFamily="34" charset="-122"/>
                <a:cs typeface="Calibri" pitchFamily="34" charset="-120"/>
              </a:rPr>
              <a:t>Closes the Excel program; you'll be prompted to save any unsaved changes first.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000" b="1" kern="0" spc="300" dirty="0">
                <a:solidFill>
                  <a:srgbClr val="E8A33D"/>
                </a:solidFill>
                <a:latin typeface="Calibri" pitchFamily="34" charset="0"/>
                <a:ea typeface="Calibri" pitchFamily="34" charset="-122"/>
                <a:cs typeface="Calibri" pitchFamily="34" charset="-120"/>
              </a:rPr>
              <a:t>02 / RIBBON TAB</a:t>
            </a:r>
            <a:endParaRPr lang="en-US" sz="20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Home Tab</a:t>
            </a:r>
            <a:endParaRPr lang="en-US" sz="60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400" dirty="0">
                <a:solidFill>
                  <a:srgbClr val="CFE8D9"/>
                </a:solidFill>
                <a:latin typeface="Calibri" pitchFamily="34" charset="0"/>
                <a:ea typeface="Calibri" pitchFamily="34" charset="-122"/>
                <a:cs typeface="Calibri" pitchFamily="34" charset="-120"/>
              </a:rPr>
              <a:t>The everyday tools — Clipboard, Font, Alignment, Number, Styles, Cells and Editing.</a:t>
            </a:r>
            <a:endParaRPr lang="en-US" sz="24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Home Tab — Clipboard Group</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HOME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Cut / Copy / Paste</a:t>
            </a:r>
            <a:endParaRPr lang="en-US" sz="28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Move or duplicate data between cells, sheets or workbooks — identical in purpose to Excel 2003, now shown as large Ribbon buttons.</a:t>
            </a:r>
            <a:endParaRPr lang="en-US" sz="20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P</a:t>
            </a:r>
            <a:endParaRPr lang="en-US" sz="36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Paste Special</a:t>
            </a:r>
            <a:endParaRPr lang="en-US" sz="28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Pastes copied content in a chosen form — values only, formats only, formulas, or as a picture — via a dialog launched from the Paste drop-down.</a:t>
            </a:r>
            <a:endParaRPr lang="en-US" sz="20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O</a:t>
            </a:r>
            <a:endParaRPr lang="en-US" sz="36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Office Clipboard</a:t>
            </a:r>
            <a:endParaRPr lang="en-US" sz="28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Opened with the small arrow in the Clipboard group; holds up to 24 copied or cut items so any of them can be pasted again later.</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Home Tab — Cells Group</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HOME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I</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Insert</a:t>
            </a:r>
            <a:endParaRPr lang="en-US" sz="28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Inserts cells, entire rows, entire columns, or a new worksheet — replaces the old Insert menu's Cells/Rows/Columns/Worksheet commands.</a:t>
            </a:r>
            <a:endParaRPr lang="en-US" sz="20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D</a:t>
            </a:r>
            <a:endParaRPr lang="en-US" sz="36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Delete</a:t>
            </a:r>
            <a:endParaRPr lang="en-US" sz="28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Deletes cells (with the option to shift cells left or up), or removes entire rows, columns or sheets.</a:t>
            </a:r>
            <a:endParaRPr lang="en-US" sz="20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F</a:t>
            </a:r>
            <a:endParaRPr lang="en-US" sz="36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Format</a:t>
            </a:r>
            <a:endParaRPr lang="en-US" sz="28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Sets row height and column width, hides/unhides rows or columns, and renames, moves, copies, hides or colors a worksheet tab.</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Home Tab — Editing Group</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HOME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F</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Fill</a:t>
            </a:r>
            <a:endParaRPr lang="en-US" sz="28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Automatically fills a repeating pattern — for example, typing 1 to 100 in one click by dragging the fill handle or using this command.</a:t>
            </a:r>
            <a:endParaRPr lang="en-US" sz="20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a:t>
            </a:r>
            <a:endParaRPr lang="en-US" sz="36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Clear</a:t>
            </a:r>
            <a:endParaRPr lang="en-US" sz="28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Erases a selection's contents, formats, comments, or all of them at once.</a:t>
            </a:r>
            <a:endParaRPr lang="en-US" sz="20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F</a:t>
            </a:r>
            <a:endParaRPr lang="en-US" sz="36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Find &amp; Select</a:t>
            </a:r>
            <a:endParaRPr lang="en-US" sz="28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Combines Find, Replace and Go To into one menu — locate text, numbers or formulas, replace them, or jump straight to a named range.</a:t>
            </a:r>
            <a:endParaRPr lang="en-US" sz="20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S</a:t>
            </a:r>
            <a:endParaRPr lang="en-US" sz="36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Sort &amp; Filter</a:t>
            </a:r>
            <a:endParaRPr lang="en-US" sz="28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Arranges data in ascending or descending order, or filters rows so only matching data is shown — moved here from the old Data menu for quick access.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000" b="1" kern="0" spc="300" dirty="0">
                <a:solidFill>
                  <a:srgbClr val="E8A33D"/>
                </a:solidFill>
                <a:latin typeface="Calibri" pitchFamily="34" charset="0"/>
                <a:ea typeface="Calibri" pitchFamily="34" charset="-122"/>
                <a:cs typeface="Calibri" pitchFamily="34" charset="-120"/>
              </a:rPr>
              <a:t>03 / RIBBON TAB</a:t>
            </a:r>
            <a:endParaRPr lang="en-US" sz="20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Insert Tab</a:t>
            </a:r>
            <a:endParaRPr lang="en-US" sz="60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400" dirty="0">
                <a:solidFill>
                  <a:srgbClr val="CFE8D9"/>
                </a:solidFill>
                <a:latin typeface="Calibri" pitchFamily="34" charset="0"/>
                <a:ea typeface="Calibri" pitchFamily="34" charset="-122"/>
                <a:cs typeface="Calibri" pitchFamily="34" charset="-120"/>
              </a:rPr>
              <a:t>Add tables, illustrations, charts, links and text elements to a worksheet.</a:t>
            </a:r>
            <a:endParaRPr lang="en-US" sz="24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Insert Tab — Tables &amp; Illustrations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INSERT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Table / PivotTable</a:t>
            </a:r>
            <a:endParaRPr lang="en-US" sz="28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Converts a range into a structured Table for easier sorting and filtering, or summarizes data instantly with a PivotTable.</a:t>
            </a:r>
            <a:endParaRPr lang="en-US" sz="20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P</a:t>
            </a:r>
            <a:endParaRPr lang="en-US" sz="36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Picture / Clip Art</a:t>
            </a:r>
            <a:endParaRPr lang="en-US" sz="28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Inserts a picture from a file or from the Clip Art gallery — replaces the old Insert &gt; Picture command.</a:t>
            </a:r>
            <a:endParaRPr lang="en-US" sz="20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S</a:t>
            </a:r>
            <a:endParaRPr lang="en-US" sz="36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Shapes</a:t>
            </a:r>
            <a:endParaRPr lang="en-US" sz="28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Inserts auto-shapes such as lines, arrows, rectangles and callouts.</a:t>
            </a:r>
            <a:endParaRPr lang="en-US" sz="20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S</a:t>
            </a:r>
            <a:endParaRPr lang="en-US" sz="36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SmartArt</a:t>
            </a:r>
            <a:endParaRPr lang="en-US" sz="28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Replaces the old Diagram command — inserts organization charts, cycle diagrams, pyramids, Venn diagrams and more, now with live formatting previews.</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Insert Tab — Charts, Sparklines &amp; Links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INSERT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Charts</a:t>
            </a:r>
            <a:endParaRPr lang="en-US" sz="32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Inserts column, line, pie and other charts for data presentation and analysis, with a live gallery preview before you commit.</a:t>
            </a:r>
            <a:endParaRPr lang="en-US" sz="24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Sparklines</a:t>
            </a:r>
            <a:endParaRPr lang="en-US" sz="32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A feature new to Excel 2010 — tiny in-cell charts (Line, Column, Win/Loss) that show a data trend at a glance.</a:t>
            </a:r>
            <a:endParaRPr lang="en-US" sz="24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H</a:t>
            </a:r>
            <a:endParaRPr lang="en-US" sz="40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Hyperlink</a:t>
            </a:r>
            <a:endParaRPr lang="en-US" sz="32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Links a cell to a web page, another file, an email address or another location in the workbook.</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Insert Tab — Symbols &amp; Text</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INSERT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H</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Header &amp; Footer</a:t>
            </a:r>
            <a:endParaRPr lang="en-US" sz="32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Adds a header and footer to a worksheet, matching the old Insert &gt; Header and Footer command.</a:t>
            </a:r>
            <a:endParaRPr lang="en-US" sz="24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W</a:t>
            </a:r>
            <a:endParaRPr lang="en-US" sz="40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WordArt / Text Box</a:t>
            </a:r>
            <a:endParaRPr lang="en-US" sz="32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Inserts decorative WordArt text or a free-floating text box anywhere on the sheet.</a:t>
            </a:r>
            <a:endParaRPr lang="en-US" sz="24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Symbol</a:t>
            </a:r>
            <a:endParaRPr lang="en-US" sz="32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Inserts symbols and special characters not available on the keyboard.</a:t>
            </a:r>
            <a:endParaRPr lang="en-US" sz="24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O</a:t>
            </a:r>
            <a:endParaRPr lang="en-US" sz="40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Object</a:t>
            </a:r>
            <a:endParaRPr lang="en-US" sz="32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Embeds items such as a Flash document, media clip, Microsoft Equation or another file's contents.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000" b="1" kern="0" spc="300" dirty="0">
                <a:solidFill>
                  <a:srgbClr val="E8A33D"/>
                </a:solidFill>
                <a:latin typeface="Calibri" pitchFamily="34" charset="0"/>
                <a:ea typeface="Calibri" pitchFamily="34" charset="-122"/>
                <a:cs typeface="Calibri" pitchFamily="34" charset="-120"/>
              </a:rPr>
              <a:t>04 / RIBBON TAB</a:t>
            </a:r>
            <a:endParaRPr lang="en-US" sz="20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Page Layout Tab</a:t>
            </a:r>
            <a:endParaRPr lang="en-US" sz="60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400" dirty="0">
                <a:solidFill>
                  <a:srgbClr val="CFE8D9"/>
                </a:solidFill>
                <a:latin typeface="Calibri" pitchFamily="34" charset="0"/>
                <a:ea typeface="Calibri" pitchFamily="34" charset="-122"/>
                <a:cs typeface="Calibri" pitchFamily="34" charset="-120"/>
              </a:rPr>
              <a:t>A tab new since Office 2007 — themes and everything related to how a sheet looks when printed.</a:t>
            </a:r>
            <a:endParaRPr lang="en-US" sz="24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Page Layout Tab — Setup</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PAGE LAYOUT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T</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Themes</a:t>
            </a:r>
            <a:endParaRPr lang="en-US" sz="28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Applies a coordinated set of colors, fonts and effects across the workbook — a feature that did not exist in Excel 2003.</a:t>
            </a:r>
            <a:endParaRPr lang="en-US" sz="20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M</a:t>
            </a:r>
            <a:endParaRPr lang="en-US" sz="36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Margins / Orientation / Size</a:t>
            </a:r>
            <a:endParaRPr lang="en-US" sz="28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Sets page margins, switches between Portrait and Landscape, and chooses paper size — replaces the old Page Setup dialog's core options.</a:t>
            </a:r>
            <a:endParaRPr lang="en-US" sz="20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P</a:t>
            </a:r>
            <a:endParaRPr lang="en-US" sz="36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Print Area</a:t>
            </a:r>
            <a:endParaRPr lang="en-US" sz="28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Marks the exact range that should print, the same purpose as the Excel 2003 Print Area command.</a:t>
            </a:r>
            <a:endParaRPr lang="en-US" sz="20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B</a:t>
            </a:r>
            <a:endParaRPr lang="en-US" sz="36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Breaks</a:t>
            </a:r>
            <a:endParaRPr lang="en-US" sz="28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Inserts or removes page breaks, matching the old Insert &gt; Page Break command.</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Page Layout Tab — Scale &amp; Sheet Options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PAGE LAYOUT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Scale to Fit</a:t>
            </a:r>
            <a:endParaRPr lang="en-US" sz="32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Shrinks or expands the printed output to fit a set number of pages wide and tall.</a:t>
            </a:r>
            <a:endParaRPr lang="en-US" sz="24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G</a:t>
            </a:r>
            <a:endParaRPr lang="en-US" sz="40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Gridlines &amp; Headings</a:t>
            </a:r>
            <a:endParaRPr lang="en-US" sz="32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Toggles whether gridlines and row/column headings are shown on screen and/or printed.</a:t>
            </a:r>
            <a:endParaRPr lang="en-US" sz="24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A</a:t>
            </a:r>
            <a:endParaRPr lang="en-US" sz="40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Arrange</a:t>
            </a:r>
            <a:endParaRPr lang="en-US" sz="32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Aligns, groups and orders inserted pictures, shapes and other objects on the sheet.</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000" b="1" kern="0" spc="300" dirty="0">
                <a:solidFill>
                  <a:srgbClr val="E8A33D"/>
                </a:solidFill>
                <a:latin typeface="Calibri" pitchFamily="34" charset="0"/>
                <a:ea typeface="Calibri" pitchFamily="34" charset="-122"/>
                <a:cs typeface="Calibri" pitchFamily="34" charset="-120"/>
              </a:rPr>
              <a:t>05 / RIBBON TAB</a:t>
            </a:r>
            <a:endParaRPr lang="en-US" sz="20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Formulas Tab</a:t>
            </a:r>
            <a:endParaRPr lang="en-US" sz="60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400" dirty="0">
                <a:solidFill>
                  <a:srgbClr val="CFE8D9"/>
                </a:solidFill>
                <a:latin typeface="Calibri" pitchFamily="34" charset="0"/>
                <a:ea typeface="Calibri" pitchFamily="34" charset="-122"/>
                <a:cs typeface="Calibri" pitchFamily="34" charset="-120"/>
              </a:rPr>
              <a:t>A tab new since Office 2007, dedicated entirely to building and auditing formulas.</a:t>
            </a:r>
            <a:endParaRPr lang="en-US" sz="24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Formulas Tab — Functions &amp; Names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FORMULAS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I</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Insert Function</a:t>
            </a:r>
            <a:endParaRPr lang="en-US" sz="32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Opens a guided dialog to build any function step by step — helpful for the predefined formulas once described simply as Functions in Excel 2003's Insert menu.</a:t>
            </a:r>
            <a:endParaRPr lang="en-US" sz="24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Function Library</a:t>
            </a:r>
            <a:endParaRPr lang="en-US" sz="32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Organizes functions by category — Financial, Logical, Text, Date &amp; Time, Lookup &amp; Reference and more — each with a live drop-down list.</a:t>
            </a:r>
            <a:endParaRPr lang="en-US" sz="24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D</a:t>
            </a:r>
            <a:endParaRPr lang="en-US" sz="40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Defined Names</a:t>
            </a:r>
            <a:endParaRPr lang="en-US" sz="32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Creates and manages named ranges, so formulas can refer to 'Sales' instead of a cell range like B2:B50.</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Formulas Tab — Auditing &amp; Calculation</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FORMULAS TAB</a:t>
            </a:r>
            <a:endParaRPr lang="en-US" sz="1100" dirty="0"/>
          </a:p>
        </p:txBody>
      </p:sp>
      <p:sp>
        <p:nvSpPr>
          <p:cNvPr id="5" name="Shape 3"/>
          <p:cNvSpPr/>
          <p:nvPr/>
        </p:nvSpPr>
        <p:spPr>
          <a:xfrm>
            <a:off x="640080" y="2334006"/>
            <a:ext cx="566928" cy="566928"/>
          </a:xfrm>
          <a:prstGeom prst="ellipse">
            <a:avLst/>
          </a:prstGeom>
          <a:solidFill>
            <a:srgbClr val="21A366"/>
          </a:solidFill>
          <a:ln/>
        </p:spPr>
      </p:sp>
      <p:sp>
        <p:nvSpPr>
          <p:cNvPr id="6" name="Text 4"/>
          <p:cNvSpPr/>
          <p:nvPr/>
        </p:nvSpPr>
        <p:spPr>
          <a:xfrm>
            <a:off x="640080" y="233400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Formula Auditing</a:t>
            </a:r>
            <a:endParaRPr lang="en-US" sz="3200" dirty="0"/>
          </a:p>
        </p:txBody>
      </p:sp>
      <p:sp>
        <p:nvSpPr>
          <p:cNvPr id="8" name="Text 6"/>
          <p:cNvSpPr/>
          <p:nvPr/>
        </p:nvSpPr>
        <p:spPr>
          <a:xfrm>
            <a:off x="1508760" y="1764792"/>
            <a:ext cx="9966960" cy="208026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Traces precedents and dependents, shows formulas on the sheet, checks for errors, and opens the Watch Window — all previously reached one at a time from menus.</a:t>
            </a:r>
            <a:endParaRPr lang="en-US" sz="2400" dirty="0"/>
          </a:p>
        </p:txBody>
      </p:sp>
      <p:sp>
        <p:nvSpPr>
          <p:cNvPr id="9" name="Shape 7"/>
          <p:cNvSpPr/>
          <p:nvPr/>
        </p:nvSpPr>
        <p:spPr>
          <a:xfrm>
            <a:off x="640080" y="3890772"/>
            <a:ext cx="10835640" cy="0"/>
          </a:xfrm>
          <a:prstGeom prst="line">
            <a:avLst/>
          </a:prstGeom>
          <a:noFill/>
          <a:ln w="12700">
            <a:solidFill>
              <a:srgbClr val="E3ECE7"/>
            </a:solidFill>
            <a:prstDash val="solid"/>
          </a:ln>
        </p:spPr>
      </p:sp>
      <p:sp>
        <p:nvSpPr>
          <p:cNvPr id="10" name="Shape 8"/>
          <p:cNvSpPr/>
          <p:nvPr/>
        </p:nvSpPr>
        <p:spPr>
          <a:xfrm>
            <a:off x="640080" y="4825746"/>
            <a:ext cx="566928" cy="566928"/>
          </a:xfrm>
          <a:prstGeom prst="ellipse">
            <a:avLst/>
          </a:prstGeom>
          <a:solidFill>
            <a:srgbClr val="21A366"/>
          </a:solidFill>
          <a:ln/>
        </p:spPr>
      </p:sp>
      <p:sp>
        <p:nvSpPr>
          <p:cNvPr id="11" name="Text 9"/>
          <p:cNvSpPr/>
          <p:nvPr/>
        </p:nvSpPr>
        <p:spPr>
          <a:xfrm>
            <a:off x="640080" y="482574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12" name="Text 10"/>
          <p:cNvSpPr/>
          <p:nvPr/>
        </p:nvSpPr>
        <p:spPr>
          <a:xfrm>
            <a:off x="1508760" y="392734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Calculation Options</a:t>
            </a:r>
            <a:endParaRPr lang="en-US" sz="3200" dirty="0"/>
          </a:p>
        </p:txBody>
      </p:sp>
      <p:sp>
        <p:nvSpPr>
          <p:cNvPr id="13" name="Text 11"/>
          <p:cNvSpPr/>
          <p:nvPr/>
        </p:nvSpPr>
        <p:spPr>
          <a:xfrm>
            <a:off x="1508760" y="4256532"/>
            <a:ext cx="9966960" cy="208026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Switches between Automatic and Manual recalculation, and triggers a manual recalculation with Calculate Now.</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400" b="1" kern="0" spc="300" dirty="0">
                <a:solidFill>
                  <a:srgbClr val="E8A33D"/>
                </a:solidFill>
                <a:latin typeface="Calibri" pitchFamily="34" charset="0"/>
                <a:ea typeface="Calibri" pitchFamily="34" charset="-122"/>
                <a:cs typeface="Calibri" pitchFamily="34" charset="-120"/>
              </a:rPr>
              <a:t>06 / RIBBON TAB</a:t>
            </a:r>
            <a:endParaRPr lang="en-US" sz="24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Data Tab</a:t>
            </a:r>
            <a:endParaRPr lang="en-US" sz="66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800" dirty="0">
                <a:solidFill>
                  <a:srgbClr val="CFE8D9"/>
                </a:solidFill>
                <a:latin typeface="Calibri" pitchFamily="34" charset="0"/>
                <a:ea typeface="Calibri" pitchFamily="34" charset="-122"/>
                <a:cs typeface="Calibri" pitchFamily="34" charset="-120"/>
              </a:rPr>
              <a:t>Everything for getting, connecting to, and analyzing data.</a:t>
            </a:r>
            <a:endParaRPr lang="en-US" sz="28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Data Tab — Get Data &amp; Sort/Filter</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DATA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G</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Get External Data</a:t>
            </a:r>
            <a:endParaRPr lang="en-US" sz="32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Imports data from Access, the Web, text files or other sources directly into the workbook.</a:t>
            </a:r>
            <a:endParaRPr lang="en-US" sz="24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Sort</a:t>
            </a:r>
            <a:endParaRPr lang="en-US" sz="32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Rearranges data in ascending or descending order — identical in purpose to the Excel 2003 Sort command.</a:t>
            </a:r>
            <a:endParaRPr lang="en-US" sz="24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F</a:t>
            </a:r>
            <a:endParaRPr lang="en-US" sz="40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Filter</a:t>
            </a:r>
            <a:endParaRPr lang="en-US" sz="32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Narrows down visible data using column drop-down filters, hiding rows that don't match — same role as the old Filter command.</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Data Tab — Data Tools &amp; Outline</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DATA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Text to Columns</a:t>
            </a:r>
            <a:endParaRPr lang="en-US" sz="32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Splits one column of text into several columns — unchanged from Excel 2003.</a:t>
            </a:r>
            <a:endParaRPr lang="en-US" sz="24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D</a:t>
            </a:r>
            <a:endParaRPr lang="en-US" sz="40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Data Validation</a:t>
            </a:r>
            <a:endParaRPr lang="en-US" sz="32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Restricts the type or range of data that can be entered into a cell.</a:t>
            </a:r>
            <a:endParaRPr lang="en-US" sz="24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C</a:t>
            </a:r>
            <a:endParaRPr lang="en-US" sz="40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Consolidate</a:t>
            </a:r>
            <a:endParaRPr lang="en-US" sz="32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Combines values from multiple ranges or worksheets into one summary table.</a:t>
            </a:r>
            <a:endParaRPr lang="en-US" sz="24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Subtotal (Outline group)</a:t>
            </a:r>
            <a:endParaRPr lang="en-US" sz="32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Calculates subtotals and a grand total for grouped data, with the results collapsible into an outline.</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400" b="1" kern="0" spc="300" dirty="0">
                <a:solidFill>
                  <a:srgbClr val="E8A33D"/>
                </a:solidFill>
                <a:latin typeface="Calibri" pitchFamily="34" charset="0"/>
                <a:ea typeface="Calibri" pitchFamily="34" charset="-122"/>
                <a:cs typeface="Calibri" pitchFamily="34" charset="-120"/>
              </a:rPr>
              <a:t>07 / RIBBON TAB</a:t>
            </a:r>
            <a:endParaRPr lang="en-US" sz="24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Review Tab</a:t>
            </a:r>
            <a:endParaRPr lang="en-US" sz="66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2800" dirty="0">
                <a:solidFill>
                  <a:srgbClr val="CFE8D9"/>
                </a:solidFill>
                <a:latin typeface="Calibri" pitchFamily="34" charset="0"/>
                <a:ea typeface="Calibri" pitchFamily="34" charset="-122"/>
                <a:cs typeface="Calibri" pitchFamily="34" charset="-120"/>
              </a:rPr>
              <a:t>Replaces the old Tools menu for proofing, protecting and collaborating on a workbook.</a:t>
            </a:r>
            <a:endParaRPr lang="en-US" sz="28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Review Tab — Proofing &amp; Comments</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REVIEW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S</a:t>
            </a:r>
            <a:endParaRPr lang="en-US" sz="44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600" b="1" dirty="0">
                <a:solidFill>
                  <a:srgbClr val="185C37"/>
                </a:solidFill>
                <a:latin typeface="Calibri" pitchFamily="34" charset="0"/>
                <a:ea typeface="Calibri" pitchFamily="34" charset="-122"/>
                <a:cs typeface="Calibri" pitchFamily="34" charset="-120"/>
              </a:rPr>
              <a:t>Spelling</a:t>
            </a:r>
            <a:endParaRPr lang="en-US" sz="36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800" dirty="0">
                <a:solidFill>
                  <a:srgbClr val="5B6B62"/>
                </a:solidFill>
                <a:latin typeface="Calibri" pitchFamily="34" charset="0"/>
                <a:ea typeface="Calibri" pitchFamily="34" charset="-122"/>
                <a:cs typeface="Calibri" pitchFamily="34" charset="-120"/>
              </a:rPr>
              <a:t>Spell-checks the active worksheet — the same tool once found under the Tools menu.</a:t>
            </a:r>
            <a:endParaRPr lang="en-US" sz="28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R</a:t>
            </a:r>
            <a:endParaRPr lang="en-US" sz="44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600" b="1" dirty="0">
                <a:solidFill>
                  <a:srgbClr val="185C37"/>
                </a:solidFill>
                <a:latin typeface="Calibri" pitchFamily="34" charset="0"/>
                <a:ea typeface="Calibri" pitchFamily="34" charset="-122"/>
                <a:cs typeface="Calibri" pitchFamily="34" charset="-120"/>
              </a:rPr>
              <a:t>Research / Thesaurus</a:t>
            </a:r>
            <a:endParaRPr lang="en-US" sz="36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800" dirty="0">
                <a:solidFill>
                  <a:srgbClr val="5B6B62"/>
                </a:solidFill>
                <a:latin typeface="Calibri" pitchFamily="34" charset="0"/>
                <a:ea typeface="Calibri" pitchFamily="34" charset="-122"/>
                <a:cs typeface="Calibri" pitchFamily="34" charset="-120"/>
              </a:rPr>
              <a:t>Searches reference sources and the web from within Excel, and looks up synonyms.</a:t>
            </a:r>
            <a:endParaRPr lang="en-US" sz="28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C</a:t>
            </a:r>
            <a:endParaRPr lang="en-US" sz="44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600" b="1" dirty="0">
                <a:solidFill>
                  <a:srgbClr val="185C37"/>
                </a:solidFill>
                <a:latin typeface="Calibri" pitchFamily="34" charset="0"/>
                <a:ea typeface="Calibri" pitchFamily="34" charset="-122"/>
                <a:cs typeface="Calibri" pitchFamily="34" charset="-120"/>
              </a:rPr>
              <a:t>Comments</a:t>
            </a:r>
            <a:endParaRPr lang="en-US" sz="36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800" dirty="0">
                <a:solidFill>
                  <a:srgbClr val="5B6B62"/>
                </a:solidFill>
                <a:latin typeface="Calibri" pitchFamily="34" charset="0"/>
                <a:ea typeface="Calibri" pitchFamily="34" charset="-122"/>
                <a:cs typeface="Calibri" pitchFamily="34" charset="-120"/>
              </a:rPr>
              <a:t>Inserts, edits, shows or hides comments attached to cells.</a:t>
            </a:r>
            <a:endParaRPr 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Review Tab — Protection &amp; Sharing</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REVIEW TAB</a:t>
            </a:r>
            <a:endParaRPr lang="en-US" sz="1100" dirty="0"/>
          </a:p>
        </p:txBody>
      </p:sp>
      <p:sp>
        <p:nvSpPr>
          <p:cNvPr id="5" name="Shape 3"/>
          <p:cNvSpPr/>
          <p:nvPr/>
        </p:nvSpPr>
        <p:spPr>
          <a:xfrm>
            <a:off x="640080" y="1918716"/>
            <a:ext cx="566928" cy="566928"/>
          </a:xfrm>
          <a:prstGeom prst="ellipse">
            <a:avLst/>
          </a:prstGeom>
          <a:solidFill>
            <a:srgbClr val="21A366"/>
          </a:solidFill>
          <a:ln/>
        </p:spPr>
      </p:sp>
      <p:sp>
        <p:nvSpPr>
          <p:cNvPr id="6" name="Text 4"/>
          <p:cNvSpPr/>
          <p:nvPr/>
        </p:nvSpPr>
        <p:spPr>
          <a:xfrm>
            <a:off x="640080" y="191871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P</a:t>
            </a:r>
            <a:endParaRPr lang="en-US" sz="40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Protect Sheet / Workbook</a:t>
            </a:r>
            <a:endParaRPr lang="en-US" sz="3200" dirty="0"/>
          </a:p>
        </p:txBody>
      </p:sp>
      <p:sp>
        <p:nvSpPr>
          <p:cNvPr id="8" name="Text 6"/>
          <p:cNvSpPr/>
          <p:nvPr/>
        </p:nvSpPr>
        <p:spPr>
          <a:xfrm>
            <a:off x="1508760" y="176479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Applies protection to control who can view or change data — matches the old Tools &gt; Protection command.</a:t>
            </a:r>
            <a:endParaRPr lang="en-US" sz="2400" dirty="0"/>
          </a:p>
        </p:txBody>
      </p:sp>
      <p:sp>
        <p:nvSpPr>
          <p:cNvPr id="9" name="Shape 7"/>
          <p:cNvSpPr/>
          <p:nvPr/>
        </p:nvSpPr>
        <p:spPr>
          <a:xfrm>
            <a:off x="640080" y="3060192"/>
            <a:ext cx="10835640" cy="0"/>
          </a:xfrm>
          <a:prstGeom prst="line">
            <a:avLst/>
          </a:prstGeom>
          <a:noFill/>
          <a:ln w="12700">
            <a:solidFill>
              <a:srgbClr val="E3ECE7"/>
            </a:solidFill>
            <a:prstDash val="solid"/>
          </a:ln>
        </p:spPr>
      </p:sp>
      <p:sp>
        <p:nvSpPr>
          <p:cNvPr id="10" name="Shape 8"/>
          <p:cNvSpPr/>
          <p:nvPr/>
        </p:nvSpPr>
        <p:spPr>
          <a:xfrm>
            <a:off x="640080" y="3579876"/>
            <a:ext cx="566928" cy="566928"/>
          </a:xfrm>
          <a:prstGeom prst="ellipse">
            <a:avLst/>
          </a:prstGeom>
          <a:solidFill>
            <a:srgbClr val="21A366"/>
          </a:solidFill>
          <a:ln/>
        </p:spPr>
      </p:sp>
      <p:sp>
        <p:nvSpPr>
          <p:cNvPr id="11" name="Text 9"/>
          <p:cNvSpPr/>
          <p:nvPr/>
        </p:nvSpPr>
        <p:spPr>
          <a:xfrm>
            <a:off x="640080" y="357987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S</a:t>
            </a:r>
            <a:endParaRPr lang="en-US" sz="4000" dirty="0"/>
          </a:p>
        </p:txBody>
      </p:sp>
      <p:sp>
        <p:nvSpPr>
          <p:cNvPr id="12" name="Text 10"/>
          <p:cNvSpPr/>
          <p:nvPr/>
        </p:nvSpPr>
        <p:spPr>
          <a:xfrm>
            <a:off x="1508760" y="309676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Share Workbook</a:t>
            </a:r>
            <a:endParaRPr lang="en-US" sz="3200" dirty="0"/>
          </a:p>
        </p:txBody>
      </p:sp>
      <p:sp>
        <p:nvSpPr>
          <p:cNvPr id="13" name="Text 11"/>
          <p:cNvSpPr/>
          <p:nvPr/>
        </p:nvSpPr>
        <p:spPr>
          <a:xfrm>
            <a:off x="1508760" y="342595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Turns on shared editing so several users can work in the same workbook — replaces the Excel 2003 Shared Workspace feature.</a:t>
            </a:r>
            <a:endParaRPr lang="en-US" sz="2400" dirty="0"/>
          </a:p>
        </p:txBody>
      </p:sp>
      <p:sp>
        <p:nvSpPr>
          <p:cNvPr id="14" name="Shape 12"/>
          <p:cNvSpPr/>
          <p:nvPr/>
        </p:nvSpPr>
        <p:spPr>
          <a:xfrm>
            <a:off x="640080" y="4721352"/>
            <a:ext cx="10835640" cy="0"/>
          </a:xfrm>
          <a:prstGeom prst="line">
            <a:avLst/>
          </a:prstGeom>
          <a:noFill/>
          <a:ln w="12700">
            <a:solidFill>
              <a:srgbClr val="E3ECE7"/>
            </a:solidFill>
            <a:prstDash val="solid"/>
          </a:ln>
        </p:spPr>
      </p:sp>
      <p:sp>
        <p:nvSpPr>
          <p:cNvPr id="15" name="Shape 13"/>
          <p:cNvSpPr/>
          <p:nvPr/>
        </p:nvSpPr>
        <p:spPr>
          <a:xfrm>
            <a:off x="640080" y="5241036"/>
            <a:ext cx="566928" cy="566928"/>
          </a:xfrm>
          <a:prstGeom prst="ellipse">
            <a:avLst/>
          </a:prstGeom>
          <a:solidFill>
            <a:srgbClr val="21A366"/>
          </a:solidFill>
          <a:ln/>
        </p:spPr>
      </p:sp>
      <p:sp>
        <p:nvSpPr>
          <p:cNvPr id="16" name="Text 14"/>
          <p:cNvSpPr/>
          <p:nvPr/>
        </p:nvSpPr>
        <p:spPr>
          <a:xfrm>
            <a:off x="640080" y="5241036"/>
            <a:ext cx="566928" cy="566928"/>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a:t>
            </a:r>
            <a:endParaRPr lang="en-US" sz="4000" dirty="0"/>
          </a:p>
        </p:txBody>
      </p:sp>
      <p:sp>
        <p:nvSpPr>
          <p:cNvPr id="17" name="Text 15"/>
          <p:cNvSpPr/>
          <p:nvPr/>
        </p:nvSpPr>
        <p:spPr>
          <a:xfrm>
            <a:off x="1508760" y="4757928"/>
            <a:ext cx="9966960" cy="320040"/>
          </a:xfrm>
          <a:prstGeom prst="rect">
            <a:avLst/>
          </a:prstGeom>
          <a:noFill/>
          <a:ln/>
        </p:spPr>
        <p:txBody>
          <a:bodyPr wrap="square" rtlCol="0" anchor="ctr"/>
          <a:lstStyle/>
          <a:p>
            <a:pPr marL="0" indent="0">
              <a:buNone/>
            </a:pPr>
            <a:r>
              <a:rPr lang="en-US" sz="3200" b="1" dirty="0">
                <a:solidFill>
                  <a:srgbClr val="185C37"/>
                </a:solidFill>
                <a:latin typeface="Calibri" pitchFamily="34" charset="0"/>
                <a:ea typeface="Calibri" pitchFamily="34" charset="-122"/>
                <a:cs typeface="Calibri" pitchFamily="34" charset="-120"/>
              </a:rPr>
              <a:t>Track Changes</a:t>
            </a:r>
            <a:endParaRPr lang="en-US" sz="3200" dirty="0"/>
          </a:p>
        </p:txBody>
      </p:sp>
      <p:sp>
        <p:nvSpPr>
          <p:cNvPr id="18" name="Text 16"/>
          <p:cNvSpPr/>
          <p:nvPr/>
        </p:nvSpPr>
        <p:spPr>
          <a:xfrm>
            <a:off x="1508760" y="5087112"/>
            <a:ext cx="9966960" cy="1249680"/>
          </a:xfrm>
          <a:prstGeom prst="rect">
            <a:avLst/>
          </a:prstGeom>
          <a:noFill/>
          <a:ln/>
        </p:spPr>
        <p:txBody>
          <a:bodyPr wrap="square" rtlCol="0" anchor="t"/>
          <a:lstStyle/>
          <a:p>
            <a:pPr marL="0" indent="0">
              <a:lnSpc>
                <a:spcPct val="115000"/>
              </a:lnSpc>
              <a:buNone/>
            </a:pPr>
            <a:r>
              <a:rPr lang="en-US" sz="2400" dirty="0">
                <a:solidFill>
                  <a:srgbClr val="5B6B62"/>
                </a:solidFill>
                <a:latin typeface="Calibri" pitchFamily="34" charset="0"/>
                <a:ea typeface="Calibri" pitchFamily="34" charset="-122"/>
                <a:cs typeface="Calibri" pitchFamily="34" charset="-120"/>
              </a:rPr>
              <a:t>Records edits made to a shared workbook so they can be reviewed, accepted or rejected.</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85C37"/>
          </a:solidFill>
          <a:ln/>
        </p:spPr>
      </p:sp>
      <p:sp>
        <p:nvSpPr>
          <p:cNvPr id="3" name="Text 1"/>
          <p:cNvSpPr/>
          <p:nvPr/>
        </p:nvSpPr>
        <p:spPr>
          <a:xfrm>
            <a:off x="822960" y="2148840"/>
            <a:ext cx="5486400" cy="365760"/>
          </a:xfrm>
          <a:prstGeom prst="rect">
            <a:avLst/>
          </a:prstGeom>
          <a:noFill/>
          <a:ln/>
        </p:spPr>
        <p:txBody>
          <a:bodyPr wrap="square" rtlCol="0" anchor="ctr"/>
          <a:lstStyle/>
          <a:p>
            <a:pPr marL="0" indent="0">
              <a:buNone/>
            </a:pPr>
            <a:r>
              <a:rPr lang="en-US" sz="2800" b="1" kern="0" spc="300" dirty="0">
                <a:solidFill>
                  <a:srgbClr val="E8A33D"/>
                </a:solidFill>
                <a:latin typeface="Calibri" pitchFamily="34" charset="0"/>
                <a:ea typeface="Calibri" pitchFamily="34" charset="-122"/>
                <a:cs typeface="Calibri" pitchFamily="34" charset="-120"/>
              </a:rPr>
              <a:t>08 / RIBBON TAB</a:t>
            </a:r>
            <a:endParaRPr lang="en-US" sz="2800" dirty="0"/>
          </a:p>
        </p:txBody>
      </p:sp>
      <p:sp>
        <p:nvSpPr>
          <p:cNvPr id="4" name="Text 2"/>
          <p:cNvSpPr/>
          <p:nvPr/>
        </p:nvSpPr>
        <p:spPr>
          <a:xfrm>
            <a:off x="777240" y="2468880"/>
            <a:ext cx="10515600" cy="1371600"/>
          </a:xfrm>
          <a:prstGeom prst="rect">
            <a:avLst/>
          </a:prstGeom>
          <a:noFill/>
          <a:ln/>
        </p:spPr>
        <p:txBody>
          <a:bodyPr wrap="square"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View Tab</a:t>
            </a:r>
            <a:endParaRPr lang="en-US" sz="7200" dirty="0"/>
          </a:p>
        </p:txBody>
      </p:sp>
      <p:sp>
        <p:nvSpPr>
          <p:cNvPr id="5" name="Text 3"/>
          <p:cNvSpPr/>
          <p:nvPr/>
        </p:nvSpPr>
        <p:spPr>
          <a:xfrm>
            <a:off x="822960" y="3749040"/>
            <a:ext cx="9601200" cy="914400"/>
          </a:xfrm>
          <a:prstGeom prst="rect">
            <a:avLst/>
          </a:prstGeom>
          <a:noFill/>
          <a:ln/>
        </p:spPr>
        <p:txBody>
          <a:bodyPr wrap="square" rtlCol="0" anchor="ctr"/>
          <a:lstStyle/>
          <a:p>
            <a:pPr marL="0" indent="0">
              <a:buNone/>
            </a:pPr>
            <a:r>
              <a:rPr lang="en-US" sz="3200" dirty="0">
                <a:solidFill>
                  <a:srgbClr val="CFE8D9"/>
                </a:solidFill>
                <a:latin typeface="Calibri" pitchFamily="34" charset="0"/>
                <a:ea typeface="Calibri" pitchFamily="34" charset="-122"/>
                <a:cs typeface="Calibri" pitchFamily="34" charset="-120"/>
              </a:rPr>
              <a:t>Replaces both the old View menu and the old Window menu.</a:t>
            </a:r>
            <a:endParaRPr lang="en-US" sz="3200" dirty="0"/>
          </a:p>
        </p:txBody>
      </p:sp>
      <p:sp>
        <p:nvSpPr>
          <p:cNvPr id="6" name="Shape 4"/>
          <p:cNvSpPr/>
          <p:nvPr/>
        </p:nvSpPr>
        <p:spPr>
          <a:xfrm>
            <a:off x="10424160" y="5120640"/>
            <a:ext cx="1371600" cy="1371600"/>
          </a:xfrm>
          <a:prstGeom prst="ellipse">
            <a:avLst/>
          </a:prstGeom>
          <a:solidFill>
            <a:srgbClr val="21A366"/>
          </a:solidFill>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View Tab — Workbook Views &amp; Show</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VIEW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N</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Normal / Page Break Preview</a:t>
            </a:r>
            <a:endParaRPr lang="en-US" sz="28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Normal is the everyday editing view; Page Break Preview lets you add, delete or drag page breaks — same purpose as in Excel 2003.</a:t>
            </a:r>
            <a:endParaRPr lang="en-US" sz="20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P</a:t>
            </a:r>
            <a:endParaRPr lang="en-US" sz="36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Page Layout View</a:t>
            </a:r>
            <a:endParaRPr lang="en-US" sz="28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A view new since Excel 2007 that shows exactly how the sheet will look when printed, including headers and footers, while you edit.</a:t>
            </a:r>
            <a:endParaRPr lang="en-US" sz="20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G</a:t>
            </a:r>
            <a:endParaRPr lang="en-US" sz="36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Gridlines / Headings / Formula Bar</a:t>
            </a:r>
            <a:endParaRPr lang="en-US" sz="28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Show or hide gridlines, row-and-column headings, and the Formula Bar — the Formula Bar option matches the old View menu command directly.</a:t>
            </a:r>
            <a:endParaRPr lang="en-US" sz="20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Z</a:t>
            </a:r>
            <a:endParaRPr lang="en-US" sz="36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Zoom</a:t>
            </a:r>
            <a:endParaRPr lang="en-US" sz="28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Magnifies or shrinks the worksheet view to a chosen percentage — identical to Excel 2003's Zoom tool.</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View Tab — Window Group</a:t>
            </a:r>
            <a:endParaRPr lang="en-US" sz="3200" dirty="0"/>
          </a:p>
        </p:txBody>
      </p:sp>
      <p:sp>
        <p:nvSpPr>
          <p:cNvPr id="3" name="Shape 1"/>
          <p:cNvSpPr/>
          <p:nvPr/>
        </p:nvSpPr>
        <p:spPr>
          <a:xfrm>
            <a:off x="9281160" y="457200"/>
            <a:ext cx="2468880" cy="384048"/>
          </a:xfrm>
          <a:prstGeom prst="roundRect">
            <a:avLst>
              <a:gd name="adj" fmla="val 50000"/>
            </a:avLst>
          </a:prstGeom>
          <a:solidFill>
            <a:srgbClr val="F4F9F6"/>
          </a:solidFill>
          <a:ln w="12700">
            <a:solidFill>
              <a:srgbClr val="21A366"/>
            </a:solidFill>
            <a:prstDash val="solid"/>
          </a:ln>
        </p:spPr>
      </p:sp>
      <p:sp>
        <p:nvSpPr>
          <p:cNvPr id="4" name="Text 2"/>
          <p:cNvSpPr/>
          <p:nvPr/>
        </p:nvSpPr>
        <p:spPr>
          <a:xfrm>
            <a:off x="9281160" y="457200"/>
            <a:ext cx="2468880" cy="384048"/>
          </a:xfrm>
          <a:prstGeom prst="rect">
            <a:avLst/>
          </a:prstGeom>
          <a:noFill/>
          <a:ln/>
        </p:spPr>
        <p:txBody>
          <a:bodyPr wrap="square" rtlCol="0" anchor="ctr"/>
          <a:lstStyle/>
          <a:p>
            <a:pPr marL="0" indent="0" algn="ctr">
              <a:buNone/>
            </a:pPr>
            <a:r>
              <a:rPr lang="en-US" sz="1100" b="1" kern="0" spc="100" dirty="0">
                <a:solidFill>
                  <a:srgbClr val="185C37"/>
                </a:solidFill>
                <a:latin typeface="Calibri" pitchFamily="34" charset="0"/>
                <a:ea typeface="Calibri" pitchFamily="34" charset="-122"/>
                <a:cs typeface="Calibri" pitchFamily="34" charset="-120"/>
              </a:rPr>
              <a:t>VIEW TAB</a:t>
            </a:r>
            <a:endParaRPr lang="en-US" sz="1100" dirty="0"/>
          </a:p>
        </p:txBody>
      </p:sp>
      <p:sp>
        <p:nvSpPr>
          <p:cNvPr id="5" name="Shape 3"/>
          <p:cNvSpPr/>
          <p:nvPr/>
        </p:nvSpPr>
        <p:spPr>
          <a:xfrm>
            <a:off x="640080" y="1711071"/>
            <a:ext cx="566928" cy="566928"/>
          </a:xfrm>
          <a:prstGeom prst="ellipse">
            <a:avLst/>
          </a:prstGeom>
          <a:solidFill>
            <a:srgbClr val="21A366"/>
          </a:solidFill>
          <a:ln/>
        </p:spPr>
      </p:sp>
      <p:sp>
        <p:nvSpPr>
          <p:cNvPr id="6" name="Text 4"/>
          <p:cNvSpPr/>
          <p:nvPr/>
        </p:nvSpPr>
        <p:spPr>
          <a:xfrm>
            <a:off x="640080" y="171107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N</a:t>
            </a:r>
            <a:endParaRPr lang="en-US" sz="3600" dirty="0"/>
          </a:p>
        </p:txBody>
      </p:sp>
      <p:sp>
        <p:nvSpPr>
          <p:cNvPr id="7" name="Text 5"/>
          <p:cNvSpPr/>
          <p:nvPr/>
        </p:nvSpPr>
        <p:spPr>
          <a:xfrm>
            <a:off x="1508760" y="143560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New Window</a:t>
            </a:r>
            <a:endParaRPr lang="en-US" sz="2800" dirty="0"/>
          </a:p>
        </p:txBody>
      </p:sp>
      <p:sp>
        <p:nvSpPr>
          <p:cNvPr id="8" name="Text 6"/>
          <p:cNvSpPr/>
          <p:nvPr/>
        </p:nvSpPr>
        <p:spPr>
          <a:xfrm>
            <a:off x="1508760" y="176479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Opens a new window to view multiple parts of the same workbook at once — unchanged from Excel 2003.</a:t>
            </a:r>
            <a:endParaRPr lang="en-US" sz="2000" dirty="0"/>
          </a:p>
        </p:txBody>
      </p:sp>
      <p:sp>
        <p:nvSpPr>
          <p:cNvPr id="9" name="Shape 7"/>
          <p:cNvSpPr/>
          <p:nvPr/>
        </p:nvSpPr>
        <p:spPr>
          <a:xfrm>
            <a:off x="640080" y="2644902"/>
            <a:ext cx="10835640" cy="0"/>
          </a:xfrm>
          <a:prstGeom prst="line">
            <a:avLst/>
          </a:prstGeom>
          <a:noFill/>
          <a:ln w="12700">
            <a:solidFill>
              <a:srgbClr val="E3ECE7"/>
            </a:solidFill>
            <a:prstDash val="solid"/>
          </a:ln>
        </p:spPr>
      </p:sp>
      <p:sp>
        <p:nvSpPr>
          <p:cNvPr id="10" name="Shape 8"/>
          <p:cNvSpPr/>
          <p:nvPr/>
        </p:nvSpPr>
        <p:spPr>
          <a:xfrm>
            <a:off x="640080" y="2956941"/>
            <a:ext cx="566928" cy="566928"/>
          </a:xfrm>
          <a:prstGeom prst="ellipse">
            <a:avLst/>
          </a:prstGeom>
          <a:solidFill>
            <a:srgbClr val="21A366"/>
          </a:solidFill>
          <a:ln/>
        </p:spPr>
      </p:sp>
      <p:sp>
        <p:nvSpPr>
          <p:cNvPr id="11" name="Text 9"/>
          <p:cNvSpPr/>
          <p:nvPr/>
        </p:nvSpPr>
        <p:spPr>
          <a:xfrm>
            <a:off x="640080" y="295694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A</a:t>
            </a:r>
            <a:endParaRPr lang="en-US" sz="3600" dirty="0"/>
          </a:p>
        </p:txBody>
      </p:sp>
      <p:sp>
        <p:nvSpPr>
          <p:cNvPr id="12" name="Text 10"/>
          <p:cNvSpPr/>
          <p:nvPr/>
        </p:nvSpPr>
        <p:spPr>
          <a:xfrm>
            <a:off x="1508760" y="268147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Arrange All / View Side by Side</a:t>
            </a:r>
            <a:endParaRPr lang="en-US" sz="2800" dirty="0"/>
          </a:p>
        </p:txBody>
      </p:sp>
      <p:sp>
        <p:nvSpPr>
          <p:cNvPr id="13" name="Text 11"/>
          <p:cNvSpPr/>
          <p:nvPr/>
        </p:nvSpPr>
        <p:spPr>
          <a:xfrm>
            <a:off x="1508760" y="301066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Tiles open workbook windows on screen, or lines up two workbooks side by side for comparison — a capability new since Excel 2007.</a:t>
            </a:r>
            <a:endParaRPr lang="en-US" sz="2000" dirty="0"/>
          </a:p>
        </p:txBody>
      </p:sp>
      <p:sp>
        <p:nvSpPr>
          <p:cNvPr id="14" name="Shape 12"/>
          <p:cNvSpPr/>
          <p:nvPr/>
        </p:nvSpPr>
        <p:spPr>
          <a:xfrm>
            <a:off x="640080" y="3890772"/>
            <a:ext cx="10835640" cy="0"/>
          </a:xfrm>
          <a:prstGeom prst="line">
            <a:avLst/>
          </a:prstGeom>
          <a:noFill/>
          <a:ln w="12700">
            <a:solidFill>
              <a:srgbClr val="E3ECE7"/>
            </a:solidFill>
            <a:prstDash val="solid"/>
          </a:ln>
        </p:spPr>
      </p:sp>
      <p:sp>
        <p:nvSpPr>
          <p:cNvPr id="15" name="Shape 13"/>
          <p:cNvSpPr/>
          <p:nvPr/>
        </p:nvSpPr>
        <p:spPr>
          <a:xfrm>
            <a:off x="640080" y="4202811"/>
            <a:ext cx="566928" cy="566928"/>
          </a:xfrm>
          <a:prstGeom prst="ellipse">
            <a:avLst/>
          </a:prstGeom>
          <a:solidFill>
            <a:srgbClr val="21A366"/>
          </a:solidFill>
          <a:ln/>
        </p:spPr>
      </p:sp>
      <p:sp>
        <p:nvSpPr>
          <p:cNvPr id="16" name="Text 14"/>
          <p:cNvSpPr/>
          <p:nvPr/>
        </p:nvSpPr>
        <p:spPr>
          <a:xfrm>
            <a:off x="640080" y="420281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F</a:t>
            </a:r>
            <a:endParaRPr lang="en-US" sz="3600" dirty="0"/>
          </a:p>
        </p:txBody>
      </p:sp>
      <p:sp>
        <p:nvSpPr>
          <p:cNvPr id="17" name="Text 15"/>
          <p:cNvSpPr/>
          <p:nvPr/>
        </p:nvSpPr>
        <p:spPr>
          <a:xfrm>
            <a:off x="1508760" y="392734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Freeze Panes / Split</a:t>
            </a:r>
            <a:endParaRPr lang="en-US" sz="2800" dirty="0"/>
          </a:p>
        </p:txBody>
      </p:sp>
      <p:sp>
        <p:nvSpPr>
          <p:cNvPr id="18" name="Text 16"/>
          <p:cNvSpPr/>
          <p:nvPr/>
        </p:nvSpPr>
        <p:spPr>
          <a:xfrm>
            <a:off x="1508760" y="425653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Freezes rows or columns in place while scrolling, or splits the window into separate scrollable panes.</a:t>
            </a:r>
            <a:endParaRPr lang="en-US" sz="2000" dirty="0"/>
          </a:p>
        </p:txBody>
      </p:sp>
      <p:sp>
        <p:nvSpPr>
          <p:cNvPr id="19" name="Shape 17"/>
          <p:cNvSpPr/>
          <p:nvPr/>
        </p:nvSpPr>
        <p:spPr>
          <a:xfrm>
            <a:off x="640080" y="5136642"/>
            <a:ext cx="10835640" cy="0"/>
          </a:xfrm>
          <a:prstGeom prst="line">
            <a:avLst/>
          </a:prstGeom>
          <a:noFill/>
          <a:ln w="12700">
            <a:solidFill>
              <a:srgbClr val="E3ECE7"/>
            </a:solidFill>
            <a:prstDash val="solid"/>
          </a:ln>
        </p:spPr>
      </p:sp>
      <p:sp>
        <p:nvSpPr>
          <p:cNvPr id="20" name="Shape 18"/>
          <p:cNvSpPr/>
          <p:nvPr/>
        </p:nvSpPr>
        <p:spPr>
          <a:xfrm>
            <a:off x="640080" y="5448681"/>
            <a:ext cx="566928" cy="566928"/>
          </a:xfrm>
          <a:prstGeom prst="ellipse">
            <a:avLst/>
          </a:prstGeom>
          <a:solidFill>
            <a:srgbClr val="21A366"/>
          </a:solidFill>
          <a:ln/>
        </p:spPr>
      </p:sp>
      <p:sp>
        <p:nvSpPr>
          <p:cNvPr id="21" name="Text 19"/>
          <p:cNvSpPr/>
          <p:nvPr/>
        </p:nvSpPr>
        <p:spPr>
          <a:xfrm>
            <a:off x="640080" y="5448681"/>
            <a:ext cx="566928" cy="566928"/>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H</a:t>
            </a:r>
            <a:endParaRPr lang="en-US" sz="3600" dirty="0"/>
          </a:p>
        </p:txBody>
      </p:sp>
      <p:sp>
        <p:nvSpPr>
          <p:cNvPr id="22" name="Text 20"/>
          <p:cNvSpPr/>
          <p:nvPr/>
        </p:nvSpPr>
        <p:spPr>
          <a:xfrm>
            <a:off x="1508760" y="5173218"/>
            <a:ext cx="9966960" cy="320040"/>
          </a:xfrm>
          <a:prstGeom prst="rect">
            <a:avLst/>
          </a:prstGeom>
          <a:noFill/>
          <a:ln/>
        </p:spPr>
        <p:txBody>
          <a:bodyPr wrap="square" rtlCol="0" anchor="ctr"/>
          <a:lstStyle/>
          <a:p>
            <a:pPr marL="0" indent="0">
              <a:buNone/>
            </a:pPr>
            <a:r>
              <a:rPr lang="en-US" sz="2800" b="1" dirty="0">
                <a:solidFill>
                  <a:srgbClr val="185C37"/>
                </a:solidFill>
                <a:latin typeface="Calibri" pitchFamily="34" charset="0"/>
                <a:ea typeface="Calibri" pitchFamily="34" charset="-122"/>
                <a:cs typeface="Calibri" pitchFamily="34" charset="-120"/>
              </a:rPr>
              <a:t>Hide / Unhide</a:t>
            </a:r>
            <a:endParaRPr lang="en-US" sz="2800" dirty="0"/>
          </a:p>
        </p:txBody>
      </p:sp>
      <p:sp>
        <p:nvSpPr>
          <p:cNvPr id="23" name="Text 21"/>
          <p:cNvSpPr/>
          <p:nvPr/>
        </p:nvSpPr>
        <p:spPr>
          <a:xfrm>
            <a:off x="1508760" y="5502402"/>
            <a:ext cx="9966960" cy="834390"/>
          </a:xfrm>
          <a:prstGeom prst="rect">
            <a:avLst/>
          </a:prstGeom>
          <a:noFill/>
          <a:ln/>
        </p:spPr>
        <p:txBody>
          <a:bodyPr wrap="square" rtlCol="0" anchor="t"/>
          <a:lstStyle/>
          <a:p>
            <a:pPr marL="0" indent="0">
              <a:lnSpc>
                <a:spcPct val="115000"/>
              </a:lnSpc>
              <a:buNone/>
            </a:pPr>
            <a:r>
              <a:rPr lang="en-US" sz="2000" dirty="0">
                <a:solidFill>
                  <a:srgbClr val="5B6B62"/>
                </a:solidFill>
                <a:latin typeface="Calibri" pitchFamily="34" charset="0"/>
                <a:ea typeface="Calibri" pitchFamily="34" charset="-122"/>
                <a:cs typeface="Calibri" pitchFamily="34" charset="-120"/>
              </a:rPr>
              <a:t>Hides the active workbook window, or reveals a previously hidden one.</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The Status Bar</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nSpc>
                <a:spcPct val="130000"/>
              </a:lnSpc>
              <a:buNone/>
            </a:pPr>
            <a:r>
              <a:rPr lang="en-US" sz="2800" dirty="0">
                <a:solidFill>
                  <a:srgbClr val="1F2E26"/>
                </a:solidFill>
                <a:latin typeface="Calibri" pitchFamily="34" charset="0"/>
                <a:ea typeface="Calibri" pitchFamily="34" charset="-122"/>
                <a:cs typeface="Calibri" pitchFamily="34" charset="-120"/>
              </a:rPr>
              <a:t>The Status bar still runs along the very bottom of the Excel window, just as it did in 2003. Right-clicking it opens a checklist to choose which items appear — such as Sum, Average, Count, and the current View and Zoom controls.</a:t>
            </a: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Getting Help in Excel 2010</a:t>
            </a:r>
            <a:endParaRPr lang="en-US" sz="3200" dirty="0"/>
          </a:p>
        </p:txBody>
      </p:sp>
      <p:sp>
        <p:nvSpPr>
          <p:cNvPr id="3" name="Shape 1"/>
          <p:cNvSpPr/>
          <p:nvPr/>
        </p:nvSpPr>
        <p:spPr>
          <a:xfrm>
            <a:off x="640080" y="1371600"/>
            <a:ext cx="73152" cy="1828800"/>
          </a:xfrm>
          <a:prstGeom prst="rect">
            <a:avLst/>
          </a:prstGeom>
          <a:solidFill>
            <a:srgbClr val="21A366"/>
          </a:solidFill>
          <a:ln/>
        </p:spPr>
      </p:sp>
      <p:sp>
        <p:nvSpPr>
          <p:cNvPr id="4" name="Text 2"/>
          <p:cNvSpPr/>
          <p:nvPr/>
        </p:nvSpPr>
        <p:spPr>
          <a:xfrm>
            <a:off x="914400" y="1371600"/>
            <a:ext cx="9966960" cy="2011680"/>
          </a:xfrm>
          <a:prstGeom prst="rect">
            <a:avLst/>
          </a:prstGeom>
          <a:noFill/>
          <a:ln/>
        </p:spPr>
        <p:txBody>
          <a:bodyPr wrap="square" rtlCol="0" anchor="t"/>
          <a:lstStyle/>
          <a:p>
            <a:pPr marL="0" indent="0">
              <a:lnSpc>
                <a:spcPct val="130000"/>
              </a:lnSpc>
              <a:buNone/>
            </a:pPr>
            <a:r>
              <a:rPr lang="en-US" sz="2800" dirty="0">
                <a:solidFill>
                  <a:srgbClr val="1F2E26"/>
                </a:solidFill>
                <a:latin typeface="Calibri" pitchFamily="34" charset="0"/>
                <a:ea typeface="Calibri" pitchFamily="34" charset="-122"/>
                <a:cs typeface="Calibri" pitchFamily="34" charset="-120"/>
              </a:rPr>
              <a:t>Excel 2003 had a dedicated Help menu. In Excel 2010 this becomes a single blue question-mark button at the top-right corner of the Ribbon (or the F1 key), which opens searchable Excel Help — online or offline — covering the same guidance the old Help menu provided.</a:t>
            </a:r>
            <a:endParaRPr lang="en-US" sz="2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8412480" cy="731520"/>
          </a:xfrm>
          <a:prstGeom prst="rect">
            <a:avLst/>
          </a:prstGeom>
          <a:noFill/>
          <a:ln/>
        </p:spPr>
        <p:txBody>
          <a:bodyPr wrap="square" rtlCol="0" anchor="ctr"/>
          <a:lstStyle/>
          <a:p>
            <a:pPr marL="0" indent="0">
              <a:buNone/>
            </a:pPr>
            <a:r>
              <a:rPr lang="en-US" sz="3200" b="1" dirty="0">
                <a:solidFill>
                  <a:srgbClr val="1F2E26"/>
                </a:solidFill>
                <a:latin typeface="Cambria" pitchFamily="34" charset="0"/>
                <a:ea typeface="Cambria" pitchFamily="34" charset="-122"/>
                <a:cs typeface="Cambria" pitchFamily="34" charset="-120"/>
              </a:rPr>
              <a:t>Excel 2003 vs Excel 2010</a:t>
            </a:r>
            <a:endParaRPr lang="en-US" sz="3200" dirty="0"/>
          </a:p>
        </p:txBody>
      </p:sp>
      <p:sp>
        <p:nvSpPr>
          <p:cNvPr id="3" name="Shape 1"/>
          <p:cNvSpPr/>
          <p:nvPr/>
        </p:nvSpPr>
        <p:spPr>
          <a:xfrm>
            <a:off x="640080" y="1463040"/>
            <a:ext cx="5120640" cy="4754880"/>
          </a:xfrm>
          <a:prstGeom prst="roundRect">
            <a:avLst>
              <a:gd name="adj" fmla="val 1923"/>
            </a:avLst>
          </a:prstGeom>
          <a:solidFill>
            <a:srgbClr val="F3F3F3"/>
          </a:solidFill>
          <a:ln/>
        </p:spPr>
      </p:sp>
      <p:sp>
        <p:nvSpPr>
          <p:cNvPr id="4" name="Text 2"/>
          <p:cNvSpPr/>
          <p:nvPr/>
        </p:nvSpPr>
        <p:spPr>
          <a:xfrm>
            <a:off x="914400" y="1691640"/>
            <a:ext cx="4572000" cy="457200"/>
          </a:xfrm>
          <a:prstGeom prst="rect">
            <a:avLst/>
          </a:prstGeom>
          <a:noFill/>
          <a:ln/>
        </p:spPr>
        <p:txBody>
          <a:bodyPr wrap="square" rtlCol="0" anchor="ctr"/>
          <a:lstStyle/>
          <a:p>
            <a:pPr marL="0" indent="0">
              <a:buNone/>
            </a:pPr>
            <a:r>
              <a:rPr lang="en-US" sz="3600" b="1" dirty="0">
                <a:solidFill>
                  <a:srgbClr val="6B6B6B"/>
                </a:solidFill>
                <a:latin typeface="Cambria" pitchFamily="34" charset="0"/>
                <a:ea typeface="Cambria" pitchFamily="34" charset="-122"/>
                <a:cs typeface="Cambria" pitchFamily="34" charset="-120"/>
              </a:rPr>
              <a:t>Excel 2003</a:t>
            </a:r>
            <a:endParaRPr lang="en-US" sz="3600" dirty="0"/>
          </a:p>
        </p:txBody>
      </p:sp>
      <p:sp>
        <p:nvSpPr>
          <p:cNvPr id="5" name="Shape 3"/>
          <p:cNvSpPr/>
          <p:nvPr/>
        </p:nvSpPr>
        <p:spPr>
          <a:xfrm>
            <a:off x="6309360" y="1463040"/>
            <a:ext cx="5120640" cy="4754880"/>
          </a:xfrm>
          <a:prstGeom prst="roundRect">
            <a:avLst>
              <a:gd name="adj" fmla="val 1923"/>
            </a:avLst>
          </a:prstGeom>
          <a:solidFill>
            <a:srgbClr val="185C37"/>
          </a:solidFill>
          <a:ln/>
        </p:spPr>
      </p:sp>
      <p:sp>
        <p:nvSpPr>
          <p:cNvPr id="6" name="Text 4"/>
          <p:cNvSpPr/>
          <p:nvPr/>
        </p:nvSpPr>
        <p:spPr>
          <a:xfrm>
            <a:off x="6583680" y="1691640"/>
            <a:ext cx="4572000" cy="4572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Excel 2010</a:t>
            </a:r>
            <a:endParaRPr lang="en-US" sz="3600" dirty="0"/>
          </a:p>
        </p:txBody>
      </p:sp>
      <p:sp>
        <p:nvSpPr>
          <p:cNvPr id="7" name="Text 5"/>
          <p:cNvSpPr/>
          <p:nvPr/>
        </p:nvSpPr>
        <p:spPr>
          <a:xfrm>
            <a:off x="914400" y="2240280"/>
            <a:ext cx="4572000" cy="609600"/>
          </a:xfrm>
          <a:prstGeom prst="rect">
            <a:avLst/>
          </a:prstGeom>
          <a:noFill/>
          <a:ln/>
        </p:spPr>
        <p:txBody>
          <a:bodyPr wrap="square" rtlCol="0" anchor="ctr"/>
          <a:lstStyle/>
          <a:p>
            <a:pPr marL="0" indent="0">
              <a:buNone/>
            </a:pPr>
            <a:r>
              <a:rPr lang="en-US" sz="2000" dirty="0">
                <a:solidFill>
                  <a:srgbClr val="1F2E26"/>
                </a:solidFill>
                <a:latin typeface="Calibri" pitchFamily="34" charset="0"/>
                <a:ea typeface="Calibri" pitchFamily="34" charset="-122"/>
                <a:cs typeface="Calibri" pitchFamily="34" charset="-120"/>
              </a:rPr>
              <a:t>Classic Menu bar (File, Edit, View...)</a:t>
            </a:r>
            <a:endParaRPr lang="en-US" sz="2000" dirty="0"/>
          </a:p>
        </p:txBody>
      </p:sp>
      <p:sp>
        <p:nvSpPr>
          <p:cNvPr id="8" name="Text 6"/>
          <p:cNvSpPr/>
          <p:nvPr/>
        </p:nvSpPr>
        <p:spPr>
          <a:xfrm>
            <a:off x="6583680" y="2240280"/>
            <a:ext cx="4572000" cy="609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Ribbon with tabs (Home, Insert, Formulas...)</a:t>
            </a:r>
            <a:endParaRPr lang="en-US" sz="2000" dirty="0"/>
          </a:p>
        </p:txBody>
      </p:sp>
      <p:sp>
        <p:nvSpPr>
          <p:cNvPr id="9" name="Text 7"/>
          <p:cNvSpPr/>
          <p:nvPr/>
        </p:nvSpPr>
        <p:spPr>
          <a:xfrm>
            <a:off x="914400" y="2895600"/>
            <a:ext cx="4572000" cy="609600"/>
          </a:xfrm>
          <a:prstGeom prst="rect">
            <a:avLst/>
          </a:prstGeom>
          <a:noFill/>
          <a:ln/>
        </p:spPr>
        <p:txBody>
          <a:bodyPr wrap="square" rtlCol="0" anchor="ctr"/>
          <a:lstStyle/>
          <a:p>
            <a:pPr marL="0" indent="0">
              <a:buNone/>
            </a:pPr>
            <a:r>
              <a:rPr lang="en-US" sz="2000" dirty="0">
                <a:solidFill>
                  <a:srgbClr val="1F2E26"/>
                </a:solidFill>
                <a:latin typeface="Calibri" pitchFamily="34" charset="0"/>
                <a:ea typeface="Calibri" pitchFamily="34" charset="-122"/>
                <a:cs typeface="Calibri" pitchFamily="34" charset="-120"/>
              </a:rPr>
              <a:t>256 columns (A to IV)</a:t>
            </a:r>
            <a:endParaRPr lang="en-US" sz="2000" dirty="0"/>
          </a:p>
        </p:txBody>
      </p:sp>
      <p:sp>
        <p:nvSpPr>
          <p:cNvPr id="10" name="Text 8"/>
          <p:cNvSpPr/>
          <p:nvPr/>
        </p:nvSpPr>
        <p:spPr>
          <a:xfrm>
            <a:off x="6583680" y="2895600"/>
            <a:ext cx="4572000" cy="609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16,384 columns (A to XFD)</a:t>
            </a:r>
            <a:endParaRPr lang="en-US" sz="2000" dirty="0"/>
          </a:p>
        </p:txBody>
      </p:sp>
      <p:sp>
        <p:nvSpPr>
          <p:cNvPr id="11" name="Text 9"/>
          <p:cNvSpPr/>
          <p:nvPr/>
        </p:nvSpPr>
        <p:spPr>
          <a:xfrm>
            <a:off x="914400" y="3550920"/>
            <a:ext cx="4572000" cy="609600"/>
          </a:xfrm>
          <a:prstGeom prst="rect">
            <a:avLst/>
          </a:prstGeom>
          <a:noFill/>
          <a:ln/>
        </p:spPr>
        <p:txBody>
          <a:bodyPr wrap="square" rtlCol="0" anchor="ctr"/>
          <a:lstStyle/>
          <a:p>
            <a:pPr marL="0" indent="0">
              <a:buNone/>
            </a:pPr>
            <a:r>
              <a:rPr lang="en-US" sz="2000" dirty="0">
                <a:solidFill>
                  <a:srgbClr val="1F2E26"/>
                </a:solidFill>
                <a:latin typeface="Calibri" pitchFamily="34" charset="0"/>
                <a:ea typeface="Calibri" pitchFamily="34" charset="-122"/>
                <a:cs typeface="Calibri" pitchFamily="34" charset="-120"/>
              </a:rPr>
              <a:t>65,536 rows</a:t>
            </a:r>
            <a:endParaRPr lang="en-US" sz="2000" dirty="0"/>
          </a:p>
        </p:txBody>
      </p:sp>
      <p:sp>
        <p:nvSpPr>
          <p:cNvPr id="12" name="Text 10"/>
          <p:cNvSpPr/>
          <p:nvPr/>
        </p:nvSpPr>
        <p:spPr>
          <a:xfrm>
            <a:off x="6583680" y="3550920"/>
            <a:ext cx="4572000" cy="609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1,048,576 rows</a:t>
            </a:r>
            <a:endParaRPr lang="en-US" sz="2000" dirty="0"/>
          </a:p>
        </p:txBody>
      </p:sp>
      <p:sp>
        <p:nvSpPr>
          <p:cNvPr id="13" name="Text 11"/>
          <p:cNvSpPr/>
          <p:nvPr/>
        </p:nvSpPr>
        <p:spPr>
          <a:xfrm>
            <a:off x="914400" y="4206240"/>
            <a:ext cx="4572000" cy="609600"/>
          </a:xfrm>
          <a:prstGeom prst="rect">
            <a:avLst/>
          </a:prstGeom>
          <a:noFill/>
          <a:ln/>
        </p:spPr>
        <p:txBody>
          <a:bodyPr wrap="square" rtlCol="0" anchor="ctr"/>
          <a:lstStyle/>
          <a:p>
            <a:pPr marL="0" indent="0">
              <a:buNone/>
            </a:pPr>
            <a:r>
              <a:rPr lang="en-US" sz="2000" dirty="0">
                <a:solidFill>
                  <a:srgbClr val="1F2E26"/>
                </a:solidFill>
                <a:latin typeface="Calibri" pitchFamily="34" charset="0"/>
                <a:ea typeface="Calibri" pitchFamily="34" charset="-122"/>
                <a:cs typeface="Calibri" pitchFamily="34" charset="-120"/>
              </a:rPr>
              <a:t>Save via File menu only</a:t>
            </a:r>
            <a:endParaRPr lang="en-US" sz="2000" dirty="0"/>
          </a:p>
        </p:txBody>
      </p:sp>
      <p:sp>
        <p:nvSpPr>
          <p:cNvPr id="14" name="Text 12"/>
          <p:cNvSpPr/>
          <p:nvPr/>
        </p:nvSpPr>
        <p:spPr>
          <a:xfrm>
            <a:off x="6583680" y="4206240"/>
            <a:ext cx="4572000" cy="609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Backstage View (File tab) for Save, Print, Share</a:t>
            </a:r>
            <a:endParaRPr lang="en-US" sz="2000" dirty="0"/>
          </a:p>
        </p:txBody>
      </p:sp>
      <p:sp>
        <p:nvSpPr>
          <p:cNvPr id="15" name="Text 13"/>
          <p:cNvSpPr/>
          <p:nvPr/>
        </p:nvSpPr>
        <p:spPr>
          <a:xfrm>
            <a:off x="914400" y="4861560"/>
            <a:ext cx="4572000" cy="609600"/>
          </a:xfrm>
          <a:prstGeom prst="rect">
            <a:avLst/>
          </a:prstGeom>
          <a:noFill/>
          <a:ln/>
        </p:spPr>
        <p:txBody>
          <a:bodyPr wrap="square" rtlCol="0" anchor="ctr"/>
          <a:lstStyle/>
          <a:p>
            <a:pPr marL="0" indent="0">
              <a:buNone/>
            </a:pPr>
            <a:r>
              <a:rPr lang="en-US" sz="2000" dirty="0">
                <a:solidFill>
                  <a:srgbClr val="1F2E26"/>
                </a:solidFill>
                <a:latin typeface="Calibri" pitchFamily="34" charset="0"/>
                <a:ea typeface="Calibri" pitchFamily="34" charset="-122"/>
                <a:cs typeface="Calibri" pitchFamily="34" charset="-120"/>
              </a:rPr>
              <a:t>Toolbars shown/hidden manually</a:t>
            </a:r>
            <a:endParaRPr lang="en-US" sz="2000" dirty="0"/>
          </a:p>
        </p:txBody>
      </p:sp>
      <p:sp>
        <p:nvSpPr>
          <p:cNvPr id="16" name="Text 14"/>
          <p:cNvSpPr/>
          <p:nvPr/>
        </p:nvSpPr>
        <p:spPr>
          <a:xfrm>
            <a:off x="6583680" y="4861560"/>
            <a:ext cx="4572000" cy="609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Quick Access Toolbar + contextual Ribbon</a:t>
            </a:r>
            <a:endParaRPr lang="en-US" sz="2000" dirty="0"/>
          </a:p>
        </p:txBody>
      </p:sp>
      <p:sp>
        <p:nvSpPr>
          <p:cNvPr id="17" name="Text 15"/>
          <p:cNvSpPr/>
          <p:nvPr/>
        </p:nvSpPr>
        <p:spPr>
          <a:xfrm>
            <a:off x="914400" y="5516880"/>
            <a:ext cx="4572000" cy="609600"/>
          </a:xfrm>
          <a:prstGeom prst="rect">
            <a:avLst/>
          </a:prstGeom>
          <a:noFill/>
          <a:ln/>
        </p:spPr>
        <p:txBody>
          <a:bodyPr wrap="square" rtlCol="0" anchor="ctr"/>
          <a:lstStyle/>
          <a:p>
            <a:pPr marL="0" indent="0">
              <a:buNone/>
            </a:pPr>
            <a:r>
              <a:rPr lang="en-US" sz="2000" dirty="0">
                <a:solidFill>
                  <a:srgbClr val="1F2E26"/>
                </a:solidFill>
                <a:latin typeface="Calibri" pitchFamily="34" charset="0"/>
                <a:ea typeface="Calibri" pitchFamily="34" charset="-122"/>
                <a:cs typeface="Calibri" pitchFamily="34" charset="-120"/>
              </a:rPr>
              <a:t>Office 2003 button-style icons</a:t>
            </a:r>
            <a:endParaRPr lang="en-US" sz="2000" dirty="0"/>
          </a:p>
        </p:txBody>
      </p:sp>
      <p:sp>
        <p:nvSpPr>
          <p:cNvPr id="18" name="Text 16"/>
          <p:cNvSpPr/>
          <p:nvPr/>
        </p:nvSpPr>
        <p:spPr>
          <a:xfrm>
            <a:off x="6583680" y="5516880"/>
            <a:ext cx="4572000" cy="609600"/>
          </a:xfrm>
          <a:prstGeom prst="rect">
            <a:avLst/>
          </a:prstGeom>
          <a:noFill/>
          <a:ln/>
        </p:spPr>
        <p:txBody>
          <a:bodyPr wrap="square" rtlCol="0" anchor="ctr"/>
          <a:lstStyle/>
          <a:p>
            <a:pPr marL="0" indent="0">
              <a:buNone/>
            </a:pPr>
            <a:r>
              <a:rPr lang="en-US" sz="2000" dirty="0">
                <a:solidFill>
                  <a:srgbClr val="FFFFFF"/>
                </a:solidFill>
                <a:latin typeface="Calibri" pitchFamily="34" charset="0"/>
                <a:ea typeface="Calibri" pitchFamily="34" charset="-122"/>
                <a:cs typeface="Calibri" pitchFamily="34" charset="-120"/>
              </a:rPr>
              <a:t>Modern Ribbon icons, Live Preview</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185C37"/>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21A366">
              <a:alpha val="30000"/>
            </a:srgbClr>
          </a:solidFill>
          <a:ln/>
        </p:spPr>
      </p:sp>
      <p:sp>
        <p:nvSpPr>
          <p:cNvPr id="3" name="Text 1"/>
          <p:cNvSpPr/>
          <p:nvPr/>
        </p:nvSpPr>
        <p:spPr>
          <a:xfrm>
            <a:off x="822960" y="2468880"/>
            <a:ext cx="10058400" cy="91440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YOUR QUERIES PLEASE</a:t>
            </a:r>
            <a:endParaRPr lang="en-US" sz="5400" dirty="0"/>
          </a:p>
        </p:txBody>
      </p:sp>
      <p:sp>
        <p:nvSpPr>
          <p:cNvPr id="4" name="Text 2"/>
          <p:cNvSpPr/>
          <p:nvPr/>
        </p:nvSpPr>
        <p:spPr>
          <a:xfrm>
            <a:off x="822960" y="3474720"/>
            <a:ext cx="10058400" cy="731520"/>
          </a:xfrm>
          <a:prstGeom prst="rect">
            <a:avLst/>
          </a:prstGeom>
          <a:noFill/>
          <a:ln/>
        </p:spPr>
        <p:txBody>
          <a:bodyPr wrap="square" rtlCol="0" anchor="ctr"/>
          <a:lstStyle/>
          <a:p>
            <a:pPr marL="0" indent="0">
              <a:buNone/>
            </a:pPr>
            <a:r>
              <a:rPr lang="en-US" sz="3600" b="1" kern="0" spc="300" dirty="0">
                <a:solidFill>
                  <a:srgbClr val="E8A33D"/>
                </a:solidFill>
                <a:latin typeface="Calibri" pitchFamily="34" charset="0"/>
                <a:ea typeface="Calibri" pitchFamily="34" charset="-122"/>
                <a:cs typeface="Calibri" pitchFamily="34" charset="-120"/>
              </a:rPr>
              <a:t>THANK YOU</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2987</Words>
  <Application>Microsoft Office PowerPoint</Application>
  <PresentationFormat>Widescreen</PresentationFormat>
  <Paragraphs>408</Paragraphs>
  <Slides>44</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Deepak Kumar</cp:lastModifiedBy>
  <cp:revision>5</cp:revision>
  <dcterms:created xsi:type="dcterms:W3CDTF">2026-07-27T10:40:15Z</dcterms:created>
  <dcterms:modified xsi:type="dcterms:W3CDTF">2026-07-28T09:31:42Z</dcterms:modified>
</cp:coreProperties>
</file>