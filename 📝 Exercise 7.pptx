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0" r:id="rId14"/>
    <p:sldId id="267" r:id="rId15"/>
    <p:sldId id="268" r:id="rId16"/>
    <p:sldId id="271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97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1A237E"/>
                </a:solidFill>
              </a:defRPr>
            </a:pPr>
            <a:r>
              <a:t>MS Excel 2010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87774" y="3383280"/>
            <a:ext cx="301614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F5350"/>
                </a:solidFill>
              </a:defRPr>
            </a:pPr>
            <a:r>
              <a:rPr dirty="0"/>
              <a:t>Exercise - </a:t>
            </a:r>
            <a:r>
              <a:rPr lang="en-US" dirty="0"/>
              <a:t>7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46464"/>
                </a:solidFill>
              </a:defRPr>
            </a:pPr>
            <a:r>
              <a:t>Pivot Tables, Protection &amp; Advanced Formatting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NEXA Computer 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1BA67-B4F6-4603-0D40-48981B682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BFFD28-E49C-C628-6824-9981598A52A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919A5F-3B12-0B6E-B106-1A00ECFF054D}"/>
              </a:ext>
            </a:extLst>
          </p:cNvPr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C49E95-975E-9778-97F7-1BC2B6CBA4DE}"/>
              </a:ext>
            </a:extLst>
          </p:cNvPr>
          <p:cNvSpPr txBox="1"/>
          <p:nvPr/>
        </p:nvSpPr>
        <p:spPr>
          <a:xfrm>
            <a:off x="365760" y="109728"/>
            <a:ext cx="504439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NEXA Computer Institute  |  MS Excel 2010  |  </a:t>
            </a:r>
            <a:r>
              <a:rPr lang="en-US" dirty="0"/>
              <a:t>Exercise - 7</a:t>
            </a:r>
            <a:endParaRPr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BAAC3CE-9674-A921-EB96-19E2C211F83D}"/>
              </a:ext>
            </a:extLst>
          </p:cNvPr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B14CCE-EA1E-E564-CC00-2DF103EB67B7}"/>
              </a:ext>
            </a:extLst>
          </p:cNvPr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9E8219-594B-04AB-2658-D4094F388B40}"/>
              </a:ext>
            </a:extLst>
          </p:cNvPr>
          <p:cNvSpPr txBox="1"/>
          <p:nvPr/>
        </p:nvSpPr>
        <p:spPr>
          <a:xfrm>
            <a:off x="1371600" y="804672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t>Create a Pivot Table from Employee Data.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3BA9F19-DC08-E3A1-2CEA-2281C4458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092028"/>
              </p:ext>
            </p:extLst>
          </p:nvPr>
        </p:nvGraphicFramePr>
        <p:xfrm>
          <a:off x="548640" y="1463040"/>
          <a:ext cx="11064235" cy="478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613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Emp ID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Employee Name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Department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City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Mobile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Salary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Status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Amit 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Delhi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9876543210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45000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102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Neha Sharma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HR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Lucknow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9123456789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38000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Active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Rahul Singh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Kanpur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9876512345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42000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Inactive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104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Priya Verma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IT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Agra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9988776655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48000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Active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Mohit 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Delhi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9876501234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35000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Inactive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106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Anjali Mishra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Sales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Lucknow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9123409876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41000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Active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Karan Gupta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Kanpur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9876545678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39000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108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Pooja Singh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Finance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Agra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9988701234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52000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Active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Rohan Yadav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Delhi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9876123456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55000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Inactive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1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110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Suman Patel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Sales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Lucknow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9876001234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/>
                        <a:t>44000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000" dirty="0"/>
                        <a:t>Active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8CFDC6D3-011B-36D8-0199-4277349A2DF5}"/>
              </a:ext>
            </a:extLst>
          </p:cNvPr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6D9C5A-461F-831A-5ED9-48A2F5D954E6}"/>
              </a:ext>
            </a:extLst>
          </p:cNvPr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PivotTables summarize large data quickly without writing formulas</a:t>
            </a:r>
          </a:p>
        </p:txBody>
      </p:sp>
    </p:spTree>
    <p:extLst>
      <p:ext uri="{BB962C8B-B14F-4D97-AF65-F5344CB8AC3E}">
        <p14:creationId xmlns:p14="http://schemas.microsoft.com/office/powerpoint/2010/main" val="55702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04439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NEXA Computer Institute  |  MS Excel 2010  |  </a:t>
            </a:r>
            <a:r>
              <a:rPr lang="en-US" dirty="0"/>
              <a:t>Exercise - 7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365760" y="1234440"/>
            <a:ext cx="11430000" cy="425196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3944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rPr dirty="0"/>
              <a:t>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14500"/>
            <a:ext cx="1088136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Select the entire data range (A1:G11).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Insert Tab → PivotTable → PivotTable.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Table/Range: A1:G11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Choose: New Worksheet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OK. A blank PivotTable will appear on a new sheet.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PivotTables summarize large data quickly without writing formulas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04439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NEXA Computer Institute  |  MS Excel 2010  |  </a:t>
            </a:r>
            <a:r>
              <a:rPr lang="en-US" dirty="0"/>
              <a:t>Exercise - 7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87273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Add Row Fields (Department) and Values (Sum of Salary).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02336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In the PivotTable Field List: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Drag 'Department' to the Row Labels area.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Drag 'Salary' to the Values area.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By default, Excel sums the Salary. Double-click 'Sum of Salary' in Values to change function if needed.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Row fields categorize data; Values area performs calculations like Sum, Count, Average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04439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NEXA Computer Institute  |  MS Excel 2010  |  </a:t>
            </a:r>
            <a:r>
              <a:rPr lang="en-US" dirty="0"/>
              <a:t>Exercise - 7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62210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Add Column Field (Status) in Pivot 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02336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In the PivotTable Field List: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Drag 'Status' to the Column Labels area.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The PivotTable will now show Department-wise Salary split by Active/Inactive columns.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Column fields add another dimension to analyze data side by side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04439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NEXA Computer Institute  |  MS Excel 2010  |  </a:t>
            </a:r>
            <a:r>
              <a:rPr lang="en-US" dirty="0"/>
              <a:t>Exercise - 7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51864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Apply Filter in Pivot Table (Slicer).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02336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anywhere inside the PivotTable.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PivotTable Tools → Options → Insert Slicer.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Tick 'Department' and 'Status'.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OK.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buttons in the Slicer to filter the PivotTable visually.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Slicers are interactive buttons that make filtering faster and more visual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04439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NEXA Computer Institute  |  MS Excel 2010  |  </a:t>
            </a:r>
            <a:r>
              <a:rPr lang="en-US" dirty="0"/>
              <a:t>Exercise - 7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82460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Use Freeze Panes — Freeze Top Row and First Column.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553712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To Freeze Top Row: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View Tab → Freeze Panes → Freeze Top Row.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To Freeze First Column: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View Tab → Freeze Panes → Freeze First Column.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To Freeze Both: Click on cell B2 → View → Freeze Panes → Freeze Panes.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Freeze Panes keeps headers visible while scrolling through large datasets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04439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NEXA Computer Institute  |  MS Excel 2010  |  </a:t>
            </a:r>
            <a:r>
              <a:rPr lang="en-US" dirty="0"/>
              <a:t>Exercise - 7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79010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Use Split Panes to view two areas of sheet together.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553712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on the row below where you want to split.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View Tab → Split.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The sheet will split into two scrollable panes.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You can scroll each pane independently.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To remove: View → Split (click again to toggle off).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rPr dirty="0"/>
              <a:t>Tip: Split Panes let you compare data from different parts of the same sheet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04439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NEXA Computer Institute  |  MS Excel 2010  |  </a:t>
            </a:r>
            <a:r>
              <a:rPr lang="en-US" dirty="0"/>
              <a:t>Exercise - 7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69841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Protect Sheet — Lock cells so no one can edit.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39"/>
            <a:ext cx="11430000" cy="4335185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Select cells you want to allow editing (if any).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Right-click → Format Cells → Protection → Untick 'Locked'.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Review Tab → Protect Sheet.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Enter a password (optional).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Tick actions you want to allow (e.g., Select unlocked cells).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OK.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By default all cells are locked; protection only works after enabling 'Protect Sheet'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04439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NEXA Computer Institute  |  MS Excel 2010  |  </a:t>
            </a:r>
            <a:r>
              <a:rPr lang="en-US" dirty="0"/>
              <a:t>Exercise - 7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83535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Protect Workbook — Prevent sheet insertion/deletion.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02336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Review Tab → Protect Workbook.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Tick 'Structure' (prevents adding/deleting/hiding sheets).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Enter a password (optional).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OK.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To unprotect: Review → Protect Workbook → enter password.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Protect Workbook secures the overall structure, not just individual cells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04439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NEXA Computer Institute  |  MS Excel 2010  |  </a:t>
            </a:r>
            <a:r>
              <a:rPr lang="en-US" dirty="0"/>
              <a:t>Exercise - 7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70942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Group/Ungroup Rows (Collapse/Expand data).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61772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Select the rows you want to group (e.g., rows 2 to 5).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Data Tab → Group → Rows.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A minus (-) sign will appear to collapse the group.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(-) to collapse, (+) to expand.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To Ungroup: Select rows → Data → Ungroup → Rows.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Grouping is useful for hiding detail rows and showing summary levels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04439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NEXA Computer Institute  |  MS Excel 2010  |  </a:t>
            </a:r>
            <a:r>
              <a:rPr lang="en-US" dirty="0"/>
              <a:t>Exercise - 7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749981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Apply Subtotals — Department-wise Total Salary.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750222"/>
              </p:ext>
            </p:extLst>
          </p:nvPr>
        </p:nvGraphicFramePr>
        <p:xfrm>
          <a:off x="548640" y="1463040"/>
          <a:ext cx="11064240" cy="486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13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300"/>
                        <a:t>Department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300"/>
                        <a:t>Employee Name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300"/>
                        <a:t>Salary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Amit 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45000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 dirty="0"/>
                        <a:t>IT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Priya Verma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48000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Karan Gupta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39000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HR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Neha Sharma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38000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Mohit 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35000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Sales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Rahul Singh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42000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Anjali Mishra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41000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Sales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Suman Patel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44000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13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Pooja Singh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52000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1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Finance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/>
                        <a:t>Rohan Yadav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300" dirty="0"/>
                        <a:t>55000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Always sort by the grouping column before applying Subtotals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CE440-1B57-5A09-B999-F9A32EDA5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488D42-21C0-9BEC-D2E0-3C4C78E657D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1FD5A0-D8C7-0F31-DEEE-11E21C7EB040}"/>
              </a:ext>
            </a:extLst>
          </p:cNvPr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736552-E09E-138E-A8F4-96BF2B812763}"/>
              </a:ext>
            </a:extLst>
          </p:cNvPr>
          <p:cNvSpPr txBox="1"/>
          <p:nvPr/>
        </p:nvSpPr>
        <p:spPr>
          <a:xfrm>
            <a:off x="365760" y="109728"/>
            <a:ext cx="504439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NEXA Computer Institute  |  MS Excel 2010  |  </a:t>
            </a:r>
            <a:r>
              <a:rPr lang="en-US" dirty="0"/>
              <a:t>Exercise - 7</a:t>
            </a:r>
            <a:endParaRPr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02F2AE2-2630-895B-4695-8DF75CBCEA60}"/>
              </a:ext>
            </a:extLst>
          </p:cNvPr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B3223C-C523-87A3-69C2-CBE5BBA62C1A}"/>
              </a:ext>
            </a:extLst>
          </p:cNvPr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2EF50F-9FF3-3A8F-AAB8-D4FB620AEEA1}"/>
              </a:ext>
            </a:extLst>
          </p:cNvPr>
          <p:cNvSpPr txBox="1"/>
          <p:nvPr/>
        </p:nvSpPr>
        <p:spPr>
          <a:xfrm>
            <a:off x="1371600" y="804672"/>
            <a:ext cx="749981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Apply Subtotals — Department-wise Total Salary.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EB17DF6-1C9B-4E65-C0AC-6AAE27AED306}"/>
              </a:ext>
            </a:extLst>
          </p:cNvPr>
          <p:cNvSpPr/>
          <p:nvPr/>
        </p:nvSpPr>
        <p:spPr>
          <a:xfrm>
            <a:off x="365760" y="1760220"/>
            <a:ext cx="11430000" cy="4256532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24DFAE-D183-4CB1-9B4E-33C46970D4A4}"/>
              </a:ext>
            </a:extLst>
          </p:cNvPr>
          <p:cNvSpPr txBox="1"/>
          <p:nvPr/>
        </p:nvSpPr>
        <p:spPr>
          <a:xfrm>
            <a:off x="640080" y="18516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BEABA3-FDAB-44EC-9B39-73F9AC7B5689}"/>
              </a:ext>
            </a:extLst>
          </p:cNvPr>
          <p:cNvSpPr txBox="1"/>
          <p:nvPr/>
        </p:nvSpPr>
        <p:spPr>
          <a:xfrm>
            <a:off x="640080" y="2171700"/>
            <a:ext cx="1088136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Sort data by Department first (Data → Sort → Department).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Select the entire data range.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Data Tab → Subtotal.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At each change in: Department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Use function: Sum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Add subtotal to: Salary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OK.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18C209-76E1-BCC6-C44C-9768055DF1AB}"/>
              </a:ext>
            </a:extLst>
          </p:cNvPr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EDF98C-92D4-FE28-0324-FCDF87D729F1}"/>
              </a:ext>
            </a:extLst>
          </p:cNvPr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Always sort by the grouping column before applying Subtotals</a:t>
            </a:r>
          </a:p>
        </p:txBody>
      </p:sp>
    </p:spTree>
    <p:extLst>
      <p:ext uri="{BB962C8B-B14F-4D97-AF65-F5344CB8AC3E}">
        <p14:creationId xmlns:p14="http://schemas.microsoft.com/office/powerpoint/2010/main" val="289222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04439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NEXA Computer Institute  |  MS Excel 2010  |  </a:t>
            </a:r>
            <a:r>
              <a:rPr lang="en-US" dirty="0"/>
              <a:t>Exercise - 7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72561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Create a Hyperlink to another sheet or website.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4553712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088136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Select the cell where you want the link.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Insert Tab → Hyperlink (or press Ctrl + K).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To link a website: Type URL in Address → e.g., https://www.google.com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To link a sheet: Click 'Place in This Document' → Select Sheet → OK.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OK. The text will appear blue and underlined.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Hyperlinks make navigation between sheets or to websites quick and easy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04439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NEXA Computer Institute  |  MS Excel 2010  |  </a:t>
            </a:r>
            <a:r>
              <a:rPr lang="en-US" dirty="0"/>
              <a:t>Exercise - 7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804672"/>
            <a:ext cx="70053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sz="2800" dirty="0"/>
              <a:t>Use Goal Seek — Find required marks to pass.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561779"/>
              </p:ext>
            </p:extLst>
          </p:nvPr>
        </p:nvGraphicFramePr>
        <p:xfrm>
          <a:off x="548640" y="1463040"/>
          <a:ext cx="11064240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3200"/>
                        <a:t>Subject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3200"/>
                        <a:t>Marks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Hindi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English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70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Math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Science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60</a:t>
                      </a:r>
                    </a:p>
                  </a:txBody>
                  <a:tcPr>
                    <a:solidFill>
                      <a:srgbClr val="EB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12121"/>
                          </a:solidFill>
                        </a:defRPr>
                      </a:pPr>
                      <a:r>
                        <a:rPr sz="2800" dirty="0"/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Goal Seek is a powerful tool to find input values needed to reach a target output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85FBD-E92E-867A-74DA-1494E0524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9FAF5C-8CD7-AF0E-1BEA-AAD095D8D25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90CB25-B870-1CEE-7032-9729267965D5}"/>
              </a:ext>
            </a:extLst>
          </p:cNvPr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9764F6-840F-E986-4C5B-2E3D9414594A}"/>
              </a:ext>
            </a:extLst>
          </p:cNvPr>
          <p:cNvSpPr txBox="1"/>
          <p:nvPr/>
        </p:nvSpPr>
        <p:spPr>
          <a:xfrm>
            <a:off x="365760" y="109728"/>
            <a:ext cx="504439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NEXA Computer Institute  |  MS Excel 2010  |  </a:t>
            </a:r>
            <a:r>
              <a:rPr lang="en-US" dirty="0"/>
              <a:t>Exercise - 7</a:t>
            </a:r>
            <a:endParaRPr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3B85329-9216-7A61-009B-8E93BC7178D9}"/>
              </a:ext>
            </a:extLst>
          </p:cNvPr>
          <p:cNvSpPr/>
          <p:nvPr/>
        </p:nvSpPr>
        <p:spPr>
          <a:xfrm>
            <a:off x="365760" y="77724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12BCAF-185A-ACDD-772B-0E69C23BB68C}"/>
              </a:ext>
            </a:extLst>
          </p:cNvPr>
          <p:cNvSpPr txBox="1"/>
          <p:nvPr/>
        </p:nvSpPr>
        <p:spPr>
          <a:xfrm>
            <a:off x="365760" y="841248"/>
            <a:ext cx="822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Q12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F025AE-777F-7CAB-BF76-EA7110C16164}"/>
              </a:ext>
            </a:extLst>
          </p:cNvPr>
          <p:cNvSpPr txBox="1"/>
          <p:nvPr/>
        </p:nvSpPr>
        <p:spPr>
          <a:xfrm>
            <a:off x="1371600" y="804672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364"/>
                </a:solidFill>
              </a:defRPr>
            </a:pPr>
            <a:r>
              <a:rPr dirty="0"/>
              <a:t>Use Goal Seek — Find required marks to pass.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9D3485C-25C3-2B20-55F3-8190C172FF29}"/>
              </a:ext>
            </a:extLst>
          </p:cNvPr>
          <p:cNvSpPr/>
          <p:nvPr/>
        </p:nvSpPr>
        <p:spPr>
          <a:xfrm>
            <a:off x="365760" y="1609344"/>
            <a:ext cx="11430000" cy="4471416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317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81F8AD-B71A-ADEA-0AF8-6956A7A77F41}"/>
              </a:ext>
            </a:extLst>
          </p:cNvPr>
          <p:cNvSpPr txBox="1"/>
          <p:nvPr/>
        </p:nvSpPr>
        <p:spPr>
          <a:xfrm>
            <a:off x="640080" y="17145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rPr dirty="0"/>
              <a:t>ANSWER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A75995-8BFA-B820-FA08-365954BCF0DE}"/>
              </a:ext>
            </a:extLst>
          </p:cNvPr>
          <p:cNvSpPr txBox="1"/>
          <p:nvPr/>
        </p:nvSpPr>
        <p:spPr>
          <a:xfrm>
            <a:off x="640080" y="2034540"/>
            <a:ext cx="1088136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Current Total = 250. Passing marks = 300 (out of 400).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on the Total cell (e.g., F6).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Data Tab → What-If Analysis → Goal Seek.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Set cell: F6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To value: 300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By changing cell: C4 (Math marks)</a:t>
            </a:r>
          </a:p>
          <a:p>
            <a:pPr>
              <a:spcAft>
                <a:spcPts val="1000"/>
              </a:spcAft>
              <a:defRPr sz="1700">
                <a:solidFill>
                  <a:srgbClr val="212121"/>
                </a:solidFill>
              </a:defRPr>
            </a:pPr>
            <a:r>
              <a:rPr sz="2800" dirty="0"/>
              <a:t>Click OK. Excel will calculate that Math needs 75 marks.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3FD757-E006-5504-2058-3335EB4C888C}"/>
              </a:ext>
            </a:extLst>
          </p:cNvPr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238D20-C65B-B1D0-2BBA-1904F670E56B}"/>
              </a:ext>
            </a:extLst>
          </p:cNvPr>
          <p:cNvSpPr txBox="1"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</a:defRPr>
            </a:pPr>
            <a:r>
              <a:t>Tip: Goal Seek is a powerful tool to find input values needed to reach a target output</a:t>
            </a:r>
          </a:p>
        </p:txBody>
      </p:sp>
    </p:spTree>
    <p:extLst>
      <p:ext uri="{BB962C8B-B14F-4D97-AF65-F5344CB8AC3E}">
        <p14:creationId xmlns:p14="http://schemas.microsoft.com/office/powerpoint/2010/main" val="3389164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F8506B-DD99-A269-1D53-CC1DED885252}"/>
              </a:ext>
            </a:extLst>
          </p:cNvPr>
          <p:cNvSpPr txBox="1"/>
          <p:nvPr/>
        </p:nvSpPr>
        <p:spPr>
          <a:xfrm>
            <a:off x="2249805" y="2091690"/>
            <a:ext cx="769239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39142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1252</Words>
  <Application>Microsoft Office PowerPoint</Application>
  <PresentationFormat>Widescreen</PresentationFormat>
  <Paragraphs>272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Deepak Kumar</cp:lastModifiedBy>
  <cp:revision>4</cp:revision>
  <dcterms:created xsi:type="dcterms:W3CDTF">2013-01-27T09:14:16Z</dcterms:created>
  <dcterms:modified xsi:type="dcterms:W3CDTF">2026-08-07T06:05:12Z</dcterms:modified>
  <cp:category/>
</cp:coreProperties>
</file>